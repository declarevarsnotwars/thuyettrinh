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F6437E4-6355-42E1-8780-7FF2C4A31E6B}">
          <p14:sldIdLst>
            <p14:sldId id="256"/>
            <p14:sldId id="257"/>
          </p14:sldIdLst>
        </p14:section>
        <p14:section name="." id="{AFF7DEFA-0AE7-4E04-9B0C-9822D3CF7199}">
          <p14:sldIdLst>
            <p14:sldId id="258"/>
            <p14:sldId id="259"/>
            <p14:sldId id="260"/>
            <p14:sldId id="261"/>
            <p14:sldId id="262"/>
            <p14:sldId id="263"/>
            <p14:sldId id="264"/>
            <p14:sldId id="266"/>
            <p14:sldId id="26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77" autoAdjust="0"/>
    <p:restoredTop sz="94660"/>
  </p:normalViewPr>
  <p:slideViewPr>
    <p:cSldViewPr>
      <p:cViewPr>
        <p:scale>
          <a:sx n="60" d="100"/>
          <a:sy n="60" d="100"/>
        </p:scale>
        <p:origin x="221" y="40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0D82ECD-E6BD-446D-B2CE-2CDCD857C149}" type="datetimeFigureOut">
              <a:rPr lang="en-US" smtClean="0"/>
              <a:t>10/14/2020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A64922-3DC6-4D70-8A14-B633BBA1BB44}" type="slidenum">
              <a:rPr lang="en-US" smtClean="0"/>
              <a:t>‹#›</a:t>
            </a:fld>
            <a:endParaRPr lang="en-US"/>
          </a:p>
        </p:txBody>
      </p:sp>
    </p:spTree>
    <p:extLst>
      <p:ext uri="{BB962C8B-B14F-4D97-AF65-F5344CB8AC3E}">
        <p14:creationId xmlns:p14="http://schemas.microsoft.com/office/powerpoint/2010/main" val="15095090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0D82ECD-E6BD-446D-B2CE-2CDCD857C149}" type="datetimeFigureOut">
              <a:rPr lang="en-US" smtClean="0"/>
              <a:t>10/14/2020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A64922-3DC6-4D70-8A14-B633BBA1BB44}" type="slidenum">
              <a:rPr lang="en-US" smtClean="0"/>
              <a:t>‹#›</a:t>
            </a:fld>
            <a:endParaRPr lang="en-US"/>
          </a:p>
        </p:txBody>
      </p:sp>
    </p:spTree>
    <p:extLst>
      <p:ext uri="{BB962C8B-B14F-4D97-AF65-F5344CB8AC3E}">
        <p14:creationId xmlns:p14="http://schemas.microsoft.com/office/powerpoint/2010/main" val="2414633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D82ECD-E6BD-446D-B2CE-2CDCD857C149}" type="datetimeFigureOut">
              <a:rPr lang="en-US" smtClean="0"/>
              <a:t>10/14/2020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A64922-3DC6-4D70-8A14-B633BBA1BB44}" type="slidenum">
              <a:rPr lang="en-US" smtClean="0"/>
              <a:t>‹#›</a:t>
            </a:fld>
            <a:endParaRPr lang="en-US"/>
          </a:p>
        </p:txBody>
      </p:sp>
    </p:spTree>
    <p:extLst>
      <p:ext uri="{BB962C8B-B14F-4D97-AF65-F5344CB8AC3E}">
        <p14:creationId xmlns:p14="http://schemas.microsoft.com/office/powerpoint/2010/main" val="21918062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0D82ECD-E6BD-446D-B2CE-2CDCD857C149}" type="datetimeFigureOut">
              <a:rPr lang="en-US" smtClean="0"/>
              <a:t>10/14/2020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A64922-3DC6-4D70-8A14-B633BBA1BB44}" type="slidenum">
              <a:rPr lang="en-US" smtClean="0"/>
              <a:t>‹#›</a:t>
            </a:fld>
            <a:endParaRPr lang="en-US"/>
          </a:p>
        </p:txBody>
      </p:sp>
    </p:spTree>
    <p:extLst>
      <p:ext uri="{BB962C8B-B14F-4D97-AF65-F5344CB8AC3E}">
        <p14:creationId xmlns:p14="http://schemas.microsoft.com/office/powerpoint/2010/main" val="27311874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0D82ECD-E6BD-446D-B2CE-2CDCD857C149}" type="datetimeFigureOut">
              <a:rPr lang="en-US" smtClean="0"/>
              <a:t>10/14/2020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4A64922-3DC6-4D70-8A14-B633BBA1BB44}" type="slidenum">
              <a:rPr lang="en-US" smtClean="0"/>
              <a:t>‹#›</a:t>
            </a:fld>
            <a:endParaRPr lang="en-US"/>
          </a:p>
        </p:txBody>
      </p:sp>
    </p:spTree>
    <p:extLst>
      <p:ext uri="{BB962C8B-B14F-4D97-AF65-F5344CB8AC3E}">
        <p14:creationId xmlns:p14="http://schemas.microsoft.com/office/powerpoint/2010/main" val="8867468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0D82ECD-E6BD-446D-B2CE-2CDCD857C149}" type="datetimeFigureOut">
              <a:rPr lang="en-US" smtClean="0"/>
              <a:t>10/14/2020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4A64922-3DC6-4D70-8A14-B633BBA1BB44}" type="slidenum">
              <a:rPr lang="en-US" smtClean="0"/>
              <a:t>‹#›</a:t>
            </a:fld>
            <a:endParaRPr lang="en-US"/>
          </a:p>
        </p:txBody>
      </p:sp>
    </p:spTree>
    <p:extLst>
      <p:ext uri="{BB962C8B-B14F-4D97-AF65-F5344CB8AC3E}">
        <p14:creationId xmlns:p14="http://schemas.microsoft.com/office/powerpoint/2010/main" val="3231039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D82ECD-E6BD-446D-B2CE-2CDCD857C149}" type="datetimeFigureOut">
              <a:rPr lang="en-US" smtClean="0"/>
              <a:t>10/14/2020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4A64922-3DC6-4D70-8A14-B633BBA1BB44}" type="slidenum">
              <a:rPr lang="en-US" smtClean="0"/>
              <a:t>‹#›</a:t>
            </a:fld>
            <a:endParaRPr lang="en-US"/>
          </a:p>
        </p:txBody>
      </p:sp>
    </p:spTree>
    <p:extLst>
      <p:ext uri="{BB962C8B-B14F-4D97-AF65-F5344CB8AC3E}">
        <p14:creationId xmlns:p14="http://schemas.microsoft.com/office/powerpoint/2010/main" val="4127330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0D82ECD-E6BD-446D-B2CE-2CDCD857C149}" type="datetimeFigureOut">
              <a:rPr lang="en-US" smtClean="0"/>
              <a:t>10/14/2020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A64922-3DC6-4D70-8A14-B633BBA1BB44}" type="slidenum">
              <a:rPr lang="en-US" smtClean="0"/>
              <a:t>‹#›</a:t>
            </a:fld>
            <a:endParaRPr lang="en-US"/>
          </a:p>
        </p:txBody>
      </p:sp>
    </p:spTree>
    <p:extLst>
      <p:ext uri="{BB962C8B-B14F-4D97-AF65-F5344CB8AC3E}">
        <p14:creationId xmlns:p14="http://schemas.microsoft.com/office/powerpoint/2010/main" val="1760684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0D82ECD-E6BD-446D-B2CE-2CDCD857C149}" type="datetimeFigureOut">
              <a:rPr lang="en-US" smtClean="0"/>
              <a:t>10/14/2020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A64922-3DC6-4D70-8A14-B633BBA1BB44}" type="slidenum">
              <a:rPr lang="en-US" smtClean="0"/>
              <a:t>‹#›</a:t>
            </a:fld>
            <a:endParaRPr lang="en-US"/>
          </a:p>
        </p:txBody>
      </p:sp>
    </p:spTree>
    <p:extLst>
      <p:ext uri="{BB962C8B-B14F-4D97-AF65-F5344CB8AC3E}">
        <p14:creationId xmlns:p14="http://schemas.microsoft.com/office/powerpoint/2010/main" val="35735462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0D82ECD-E6BD-446D-B2CE-2CDCD857C149}" type="datetimeFigureOut">
              <a:rPr lang="en-US" smtClean="0"/>
              <a:t>10/14/2020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A64922-3DC6-4D70-8A14-B633BBA1BB44}" type="slidenum">
              <a:rPr lang="en-US" smtClean="0"/>
              <a:t>‹#›</a:t>
            </a:fld>
            <a:endParaRPr lang="en-US"/>
          </a:p>
        </p:txBody>
      </p:sp>
    </p:spTree>
    <p:extLst>
      <p:ext uri="{BB962C8B-B14F-4D97-AF65-F5344CB8AC3E}">
        <p14:creationId xmlns:p14="http://schemas.microsoft.com/office/powerpoint/2010/main" val="2010417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0D82ECD-E6BD-446D-B2CE-2CDCD857C149}" type="datetimeFigureOut">
              <a:rPr lang="en-US" smtClean="0"/>
              <a:t>10/14/2020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A64922-3DC6-4D70-8A14-B633BBA1BB44}" type="slidenum">
              <a:rPr lang="en-US" smtClean="0"/>
              <a:t>‹#›</a:t>
            </a:fld>
            <a:endParaRPr lang="en-US"/>
          </a:p>
        </p:txBody>
      </p:sp>
    </p:spTree>
    <p:extLst>
      <p:ext uri="{BB962C8B-B14F-4D97-AF65-F5344CB8AC3E}">
        <p14:creationId xmlns:p14="http://schemas.microsoft.com/office/powerpoint/2010/main" val="21081892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26000" r="-26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D82ECD-E6BD-446D-B2CE-2CDCD857C149}" type="datetimeFigureOut">
              <a:rPr lang="en-US" smtClean="0"/>
              <a:t>10/14/2020</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A64922-3DC6-4D70-8A14-B633BBA1BB44}" type="slidenum">
              <a:rPr lang="en-US" smtClean="0"/>
              <a:t>‹#›</a:t>
            </a:fld>
            <a:endParaRPr lang="en-US"/>
          </a:p>
        </p:txBody>
      </p:sp>
    </p:spTree>
    <p:extLst>
      <p:ext uri="{BB962C8B-B14F-4D97-AF65-F5344CB8AC3E}">
        <p14:creationId xmlns:p14="http://schemas.microsoft.com/office/powerpoint/2010/main" val="11282766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7.xml"/><Relationship Id="rId4" Type="http://schemas.openxmlformats.org/officeDocument/2006/relationships/image" Target="../media/image16.jpeg"/></Relationships>
</file>

<file path=ppt/slides/_rels/slide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7.xml"/><Relationship Id="rId4" Type="http://schemas.openxmlformats.org/officeDocument/2006/relationships/image" Target="../media/image21.jpe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7.xml"/><Relationship Id="rId6" Type="http://schemas.openxmlformats.org/officeDocument/2006/relationships/image" Target="../media/image24.jpg"/><Relationship Id="rId5" Type="http://schemas.openxmlformats.org/officeDocument/2006/relationships/image" Target="../media/image23.jpg"/><Relationship Id="rId4" Type="http://schemas.openxmlformats.org/officeDocument/2006/relationships/image" Target="../media/image2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228600"/>
            <a:ext cx="6096000" cy="1107996"/>
          </a:xfrm>
          <a:prstGeom prst="rect">
            <a:avLst/>
          </a:prstGeom>
          <a:solidFill>
            <a:schemeClr val="tx1">
              <a:lumMod val="75000"/>
              <a:lumOff val="25000"/>
            </a:schemeClr>
          </a:solidFill>
        </p:spPr>
        <p:txBody>
          <a:bodyPr wrap="square" rtlCol="0">
            <a:spAutoFit/>
          </a:bodyPr>
          <a:lstStyle/>
          <a:p>
            <a:pPr algn="ctr"/>
            <a:r>
              <a:rPr lang="en-US" sz="6600" b="1" spc="-300">
                <a:solidFill>
                  <a:schemeClr val="bg1"/>
                </a:solidFill>
              </a:rPr>
              <a:t>TỔ 1</a:t>
            </a:r>
          </a:p>
        </p:txBody>
      </p:sp>
      <p:sp>
        <p:nvSpPr>
          <p:cNvPr id="5" name="TextBox 4"/>
          <p:cNvSpPr txBox="1"/>
          <p:nvPr/>
        </p:nvSpPr>
        <p:spPr>
          <a:xfrm>
            <a:off x="-12700" y="1528108"/>
            <a:ext cx="5270500" cy="1938992"/>
          </a:xfrm>
          <a:prstGeom prst="rect">
            <a:avLst/>
          </a:prstGeom>
          <a:solidFill>
            <a:schemeClr val="bg1">
              <a:lumMod val="50000"/>
            </a:schemeClr>
          </a:solidFill>
        </p:spPr>
        <p:txBody>
          <a:bodyPr wrap="square" rtlCol="0">
            <a:spAutoFit/>
          </a:bodyPr>
          <a:lstStyle/>
          <a:p>
            <a:pPr algn="ctr"/>
            <a:r>
              <a:rPr lang="en-US" sz="6000" b="1" i="1" spc="600">
                <a:solidFill>
                  <a:schemeClr val="accent4">
                    <a:lumMod val="40000"/>
                    <a:lumOff val="60000"/>
                  </a:schemeClr>
                </a:solidFill>
                <a:effectLst>
                  <a:outerShdw blurRad="38100" dist="38100" dir="2700000" algn="tl">
                    <a:srgbClr val="000000">
                      <a:alpha val="43137"/>
                    </a:srgbClr>
                  </a:outerShdw>
                </a:effectLst>
              </a:rPr>
              <a:t>XIN CHÀO CÔ VÀ CÁC BẠN</a:t>
            </a:r>
          </a:p>
        </p:txBody>
      </p:sp>
    </p:spTree>
    <p:extLst>
      <p:ext uri="{BB962C8B-B14F-4D97-AF65-F5344CB8AC3E}">
        <p14:creationId xmlns:p14="http://schemas.microsoft.com/office/powerpoint/2010/main" val="1789858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iterate type="lt">
                                    <p:tmPct val="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mph" presetSubtype="0" fill="hold" grpId="0" nodeType="clickEffect">
                                  <p:stCondLst>
                                    <p:cond delay="0"/>
                                  </p:stCondLst>
                                  <p:iterate type="lt">
                                    <p:tmPct val="4000"/>
                                  </p:iterate>
                                  <p:childTnLst>
                                    <p:set>
                                      <p:cBhvr override="childStyle">
                                        <p:cTn id="11" dur="500" fill="hold"/>
                                        <p:tgtEl>
                                          <p:spTgt spid="5"/>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3" name="TextBox 2"/>
          <p:cNvSpPr txBox="1"/>
          <p:nvPr/>
        </p:nvSpPr>
        <p:spPr>
          <a:xfrm>
            <a:off x="1828800" y="381000"/>
            <a:ext cx="8534400" cy="1200329"/>
          </a:xfrm>
          <a:prstGeom prst="rect">
            <a:avLst/>
          </a:prstGeom>
          <a:noFill/>
        </p:spPr>
        <p:txBody>
          <a:bodyPr wrap="square" rtlCol="0">
            <a:spAutoFit/>
          </a:bodyPr>
          <a:lstStyle/>
          <a:p>
            <a:r>
              <a:rPr lang="en-US" sz="3600" b="1" u="sng" spc="300">
                <a:solidFill>
                  <a:schemeClr val="bg1"/>
                </a:solidFill>
                <a:effectLst>
                  <a:outerShdw blurRad="38100" dist="38100" dir="2700000" algn="tl">
                    <a:srgbClr val="000000">
                      <a:alpha val="43137"/>
                    </a:srgbClr>
                  </a:outerShdw>
                </a:effectLst>
              </a:rPr>
              <a:t>6. XIÊM ( THÁI LAN ) GIỮA THẾ KỈ XIX – ĐẦU THẾ KỈ XX</a:t>
            </a:r>
          </a:p>
        </p:txBody>
      </p:sp>
      <p:pic>
        <p:nvPicPr>
          <p:cNvPr id="2052" name="Picture 4" descr="thailand-flag-waving-animated-gif-12 – EXPEDITION ANTARCTIC BLANC"/>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2438400"/>
            <a:ext cx="5334000" cy="3333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931302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1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2052"/>
                                        </p:tgtEl>
                                        <p:attrNameLst>
                                          <p:attrName>style.visibility</p:attrName>
                                        </p:attrNameLst>
                                      </p:cBhvr>
                                      <p:to>
                                        <p:strVal val="visible"/>
                                      </p:to>
                                    </p:set>
                                    <p:anim calcmode="lin" valueType="num">
                                      <p:cBhvr>
                                        <p:cTn id="12" dur="500" fill="hold"/>
                                        <p:tgtEl>
                                          <p:spTgt spid="2052"/>
                                        </p:tgtEl>
                                        <p:attrNameLst>
                                          <p:attrName>ppt_w</p:attrName>
                                        </p:attrNameLst>
                                      </p:cBhvr>
                                      <p:tavLst>
                                        <p:tav tm="0">
                                          <p:val>
                                            <p:fltVal val="0"/>
                                          </p:val>
                                        </p:tav>
                                        <p:tav tm="100000">
                                          <p:val>
                                            <p:strVal val="#ppt_w"/>
                                          </p:val>
                                        </p:tav>
                                      </p:tavLst>
                                    </p:anim>
                                    <p:anim calcmode="lin" valueType="num">
                                      <p:cBhvr>
                                        <p:cTn id="13" dur="500" fill="hold"/>
                                        <p:tgtEl>
                                          <p:spTgt spid="2052"/>
                                        </p:tgtEl>
                                        <p:attrNameLst>
                                          <p:attrName>ppt_h</p:attrName>
                                        </p:attrNameLst>
                                      </p:cBhvr>
                                      <p:tavLst>
                                        <p:tav tm="0">
                                          <p:val>
                                            <p:fltVal val="0"/>
                                          </p:val>
                                        </p:tav>
                                        <p:tav tm="100000">
                                          <p:val>
                                            <p:strVal val="#ppt_h"/>
                                          </p:val>
                                        </p:tav>
                                      </p:tavLst>
                                    </p:anim>
                                    <p:animEffect transition="in" filter="fade">
                                      <p:cBhvr>
                                        <p:cTn id="14" dur="500"/>
                                        <p:tgtEl>
                                          <p:spTgt spid="2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057400" y="381000"/>
            <a:ext cx="7924800" cy="1569660"/>
          </a:xfrm>
          <a:prstGeom prst="rect">
            <a:avLst/>
          </a:prstGeom>
          <a:noFill/>
        </p:spPr>
        <p:txBody>
          <a:bodyPr wrap="square" rtlCol="0">
            <a:spAutoFit/>
          </a:bodyPr>
          <a:lstStyle/>
          <a:p>
            <a:pPr marL="285750" indent="-285750">
              <a:buFont typeface="Arial" panose="020B0604020202020204" pitchFamily="34" charset="0"/>
              <a:buChar char="•"/>
            </a:pPr>
            <a:r>
              <a:rPr lang="en-US" sz="2400">
                <a:latin typeface="Calibri (Body)"/>
              </a:rPr>
              <a:t>Trước hết ta cần biết rằng , </a:t>
            </a:r>
            <a:r>
              <a:rPr lang="vi-VN" sz="2400">
                <a:latin typeface="Calibri (Body)"/>
              </a:rPr>
              <a:t>Cuối thế kỉ XIX đầu thế kỉ XX, hầu hết các nước Đông Nam Á, trừ Xiêm (Thái Lan), đều trở thành thuộc địa hay nửa thuộc địa của các nước thực dân phương Tây.</a:t>
            </a:r>
            <a:endParaRPr lang="en-US" sz="2400">
              <a:latin typeface="Calibri (Body)"/>
            </a:endParaRPr>
          </a:p>
        </p:txBody>
      </p:sp>
      <p:pic>
        <p:nvPicPr>
          <p:cNvPr id="3076" name="Picture 4" descr="Bài 5: Các nước Đông Nam Á - Study for our fu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5500" y="1"/>
            <a:ext cx="7848600" cy="6735919"/>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6" descr="Quốc kỳ Hà Lan – Wikipedia tiếng Việt"/>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079"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29300" y="4495800"/>
            <a:ext cx="5715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82" name="Picture 10" descr="Quốc kỳ Hoa Kỳ – Wikipedia tiếng Việ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467601" y="3367960"/>
            <a:ext cx="571727" cy="300909"/>
          </a:xfrm>
          <a:prstGeom prst="rect">
            <a:avLst/>
          </a:prstGeom>
          <a:noFill/>
          <a:extLst>
            <a:ext uri="{909E8E84-426E-40DD-AFC4-6F175D3DCCD1}">
              <a14:hiddenFill xmlns:a14="http://schemas.microsoft.com/office/drawing/2010/main">
                <a:solidFill>
                  <a:srgbClr val="FFFFFF"/>
                </a:solidFill>
              </a14:hiddenFill>
            </a:ext>
          </a:extLst>
        </p:spPr>
      </p:pic>
      <p:pic>
        <p:nvPicPr>
          <p:cNvPr id="3085" name="Picture 1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743200" y="822930"/>
            <a:ext cx="685800"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86" name="Picture 1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038917" y="4261767"/>
            <a:ext cx="422880" cy="2114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87" name="Picture 15"/>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192229" y="4417829"/>
            <a:ext cx="311886" cy="1559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88" name="Picture 16"/>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880337" y="1302327"/>
            <a:ext cx="290730" cy="1938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89" name="Picture 17"/>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800600" y="2362200"/>
            <a:ext cx="285750"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90" name="Picture 18"/>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134483" y="2743201"/>
            <a:ext cx="391391" cy="2609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7" name="Straight Arrow Connector 6"/>
          <p:cNvCxnSpPr/>
          <p:nvPr/>
        </p:nvCxnSpPr>
        <p:spPr>
          <a:xfrm flipV="1">
            <a:off x="3880338" y="1496148"/>
            <a:ext cx="2234713" cy="71365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Rounded Rectangle 9"/>
          <p:cNvSpPr/>
          <p:nvPr/>
        </p:nvSpPr>
        <p:spPr>
          <a:xfrm>
            <a:off x="6162788" y="1055666"/>
            <a:ext cx="3181350" cy="68714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Riêng Xiêm ( Thái Lan)  không bị đe doạ bởi các nước tư bản</a:t>
            </a:r>
          </a:p>
        </p:txBody>
      </p:sp>
    </p:spTree>
    <p:extLst>
      <p:ext uri="{BB962C8B-B14F-4D97-AF65-F5344CB8AC3E}">
        <p14:creationId xmlns:p14="http://schemas.microsoft.com/office/powerpoint/2010/main" val="3254621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1"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amond(in)">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3"/>
                                        </p:tgtEl>
                                      </p:cBhvr>
                                    </p:animEffect>
                                    <p:set>
                                      <p:cBhvr>
                                        <p:cTn id="12" dur="1" fill="hold">
                                          <p:stCondLst>
                                            <p:cond delay="499"/>
                                          </p:stCondLst>
                                        </p:cTn>
                                        <p:tgtEl>
                                          <p:spTgt spid="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3076"/>
                                        </p:tgtEl>
                                        <p:attrNameLst>
                                          <p:attrName>style.visibility</p:attrName>
                                        </p:attrNameLst>
                                      </p:cBhvr>
                                      <p:to>
                                        <p:strVal val="visible"/>
                                      </p:to>
                                    </p:set>
                                    <p:animEffect transition="in" filter="wheel(1)">
                                      <p:cBhvr>
                                        <p:cTn id="17" dur="2000"/>
                                        <p:tgtEl>
                                          <p:spTgt spid="3076"/>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nodeType="clickEffect">
                                  <p:stCondLst>
                                    <p:cond delay="0"/>
                                  </p:stCondLst>
                                  <p:childTnLst>
                                    <p:set>
                                      <p:cBhvr>
                                        <p:cTn id="21" dur="1" fill="hold">
                                          <p:stCondLst>
                                            <p:cond delay="0"/>
                                          </p:stCondLst>
                                        </p:cTn>
                                        <p:tgtEl>
                                          <p:spTgt spid="3079"/>
                                        </p:tgtEl>
                                        <p:attrNameLst>
                                          <p:attrName>style.visibility</p:attrName>
                                        </p:attrNameLst>
                                      </p:cBhvr>
                                      <p:to>
                                        <p:strVal val="visible"/>
                                      </p:to>
                                    </p:set>
                                    <p:animEffect transition="in" filter="wheel(1)">
                                      <p:cBhvr>
                                        <p:cTn id="22" dur="1500"/>
                                        <p:tgtEl>
                                          <p:spTgt spid="3079"/>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nodeType="clickEffect">
                                  <p:stCondLst>
                                    <p:cond delay="0"/>
                                  </p:stCondLst>
                                  <p:childTnLst>
                                    <p:set>
                                      <p:cBhvr>
                                        <p:cTn id="26" dur="1" fill="hold">
                                          <p:stCondLst>
                                            <p:cond delay="0"/>
                                          </p:stCondLst>
                                        </p:cTn>
                                        <p:tgtEl>
                                          <p:spTgt spid="3082"/>
                                        </p:tgtEl>
                                        <p:attrNameLst>
                                          <p:attrName>style.visibility</p:attrName>
                                        </p:attrNameLst>
                                      </p:cBhvr>
                                      <p:to>
                                        <p:strVal val="visible"/>
                                      </p:to>
                                    </p:set>
                                    <p:animEffect transition="in" filter="wheel(1)">
                                      <p:cBhvr>
                                        <p:cTn id="27" dur="1500"/>
                                        <p:tgtEl>
                                          <p:spTgt spid="3082"/>
                                        </p:tgtEl>
                                      </p:cBhvr>
                                    </p:animEffect>
                                  </p:childTnLst>
                                </p:cTn>
                              </p:par>
                            </p:childTnLst>
                          </p:cTn>
                        </p:par>
                      </p:childTnLst>
                    </p:cTn>
                  </p:par>
                  <p:par>
                    <p:cTn id="28" fill="hold">
                      <p:stCondLst>
                        <p:cond delay="indefinite"/>
                      </p:stCondLst>
                      <p:childTnLst>
                        <p:par>
                          <p:cTn id="29" fill="hold">
                            <p:stCondLst>
                              <p:cond delay="0"/>
                            </p:stCondLst>
                            <p:childTnLst>
                              <p:par>
                                <p:cTn id="30" presetID="21" presetClass="entr" presetSubtype="1" fill="hold" nodeType="clickEffect">
                                  <p:stCondLst>
                                    <p:cond delay="0"/>
                                  </p:stCondLst>
                                  <p:childTnLst>
                                    <p:set>
                                      <p:cBhvr>
                                        <p:cTn id="31" dur="1" fill="hold">
                                          <p:stCondLst>
                                            <p:cond delay="0"/>
                                          </p:stCondLst>
                                        </p:cTn>
                                        <p:tgtEl>
                                          <p:spTgt spid="3085"/>
                                        </p:tgtEl>
                                        <p:attrNameLst>
                                          <p:attrName>style.visibility</p:attrName>
                                        </p:attrNameLst>
                                      </p:cBhvr>
                                      <p:to>
                                        <p:strVal val="visible"/>
                                      </p:to>
                                    </p:set>
                                    <p:animEffect transition="in" filter="wheel(1)">
                                      <p:cBhvr>
                                        <p:cTn id="32" dur="1500"/>
                                        <p:tgtEl>
                                          <p:spTgt spid="3085"/>
                                        </p:tgtEl>
                                      </p:cBhvr>
                                    </p:animEffect>
                                  </p:childTnLst>
                                </p:cTn>
                              </p:par>
                            </p:childTnLst>
                          </p:cTn>
                        </p:par>
                      </p:childTnLst>
                    </p:cTn>
                  </p:par>
                  <p:par>
                    <p:cTn id="33" fill="hold">
                      <p:stCondLst>
                        <p:cond delay="indefinite"/>
                      </p:stCondLst>
                      <p:childTnLst>
                        <p:par>
                          <p:cTn id="34" fill="hold">
                            <p:stCondLst>
                              <p:cond delay="0"/>
                            </p:stCondLst>
                            <p:childTnLst>
                              <p:par>
                                <p:cTn id="35" presetID="21" presetClass="entr" presetSubtype="1" fill="hold" nodeType="clickEffect">
                                  <p:stCondLst>
                                    <p:cond delay="0"/>
                                  </p:stCondLst>
                                  <p:childTnLst>
                                    <p:set>
                                      <p:cBhvr>
                                        <p:cTn id="36" dur="1" fill="hold">
                                          <p:stCondLst>
                                            <p:cond delay="0"/>
                                          </p:stCondLst>
                                        </p:cTn>
                                        <p:tgtEl>
                                          <p:spTgt spid="3087"/>
                                        </p:tgtEl>
                                        <p:attrNameLst>
                                          <p:attrName>style.visibility</p:attrName>
                                        </p:attrNameLst>
                                      </p:cBhvr>
                                      <p:to>
                                        <p:strVal val="visible"/>
                                      </p:to>
                                    </p:set>
                                    <p:animEffect transition="in" filter="wheel(1)">
                                      <p:cBhvr>
                                        <p:cTn id="37" dur="1500"/>
                                        <p:tgtEl>
                                          <p:spTgt spid="3087"/>
                                        </p:tgtEl>
                                      </p:cBhvr>
                                    </p:animEffect>
                                  </p:childTnLst>
                                </p:cTn>
                              </p:par>
                              <p:par>
                                <p:cTn id="38" presetID="21" presetClass="entr" presetSubtype="1" fill="hold" nodeType="withEffect">
                                  <p:stCondLst>
                                    <p:cond delay="0"/>
                                  </p:stCondLst>
                                  <p:childTnLst>
                                    <p:set>
                                      <p:cBhvr>
                                        <p:cTn id="39" dur="1" fill="hold">
                                          <p:stCondLst>
                                            <p:cond delay="0"/>
                                          </p:stCondLst>
                                        </p:cTn>
                                        <p:tgtEl>
                                          <p:spTgt spid="3086"/>
                                        </p:tgtEl>
                                        <p:attrNameLst>
                                          <p:attrName>style.visibility</p:attrName>
                                        </p:attrNameLst>
                                      </p:cBhvr>
                                      <p:to>
                                        <p:strVal val="visible"/>
                                      </p:to>
                                    </p:set>
                                    <p:animEffect transition="in" filter="wheel(1)">
                                      <p:cBhvr>
                                        <p:cTn id="40" dur="1500"/>
                                        <p:tgtEl>
                                          <p:spTgt spid="3086"/>
                                        </p:tgtEl>
                                      </p:cBhvr>
                                    </p:animEffect>
                                  </p:childTnLst>
                                </p:cTn>
                              </p:par>
                            </p:childTnLst>
                          </p:cTn>
                        </p:par>
                      </p:childTnLst>
                    </p:cTn>
                  </p:par>
                  <p:par>
                    <p:cTn id="41" fill="hold">
                      <p:stCondLst>
                        <p:cond delay="indefinite"/>
                      </p:stCondLst>
                      <p:childTnLst>
                        <p:par>
                          <p:cTn id="42" fill="hold">
                            <p:stCondLst>
                              <p:cond delay="0"/>
                            </p:stCondLst>
                            <p:childTnLst>
                              <p:par>
                                <p:cTn id="43" presetID="21" presetClass="entr" presetSubtype="1" fill="hold" nodeType="clickEffect">
                                  <p:stCondLst>
                                    <p:cond delay="0"/>
                                  </p:stCondLst>
                                  <p:childTnLst>
                                    <p:set>
                                      <p:cBhvr>
                                        <p:cTn id="44" dur="1" fill="hold">
                                          <p:stCondLst>
                                            <p:cond delay="0"/>
                                          </p:stCondLst>
                                        </p:cTn>
                                        <p:tgtEl>
                                          <p:spTgt spid="3090"/>
                                        </p:tgtEl>
                                        <p:attrNameLst>
                                          <p:attrName>style.visibility</p:attrName>
                                        </p:attrNameLst>
                                      </p:cBhvr>
                                      <p:to>
                                        <p:strVal val="visible"/>
                                      </p:to>
                                    </p:set>
                                    <p:animEffect transition="in" filter="wheel(1)">
                                      <p:cBhvr>
                                        <p:cTn id="45" dur="1250"/>
                                        <p:tgtEl>
                                          <p:spTgt spid="3090"/>
                                        </p:tgtEl>
                                      </p:cBhvr>
                                    </p:animEffect>
                                  </p:childTnLst>
                                </p:cTn>
                              </p:par>
                              <p:par>
                                <p:cTn id="46" presetID="21" presetClass="entr" presetSubtype="1" fill="hold" nodeType="withEffect">
                                  <p:stCondLst>
                                    <p:cond delay="0"/>
                                  </p:stCondLst>
                                  <p:childTnLst>
                                    <p:set>
                                      <p:cBhvr>
                                        <p:cTn id="47" dur="1" fill="hold">
                                          <p:stCondLst>
                                            <p:cond delay="0"/>
                                          </p:stCondLst>
                                        </p:cTn>
                                        <p:tgtEl>
                                          <p:spTgt spid="3089"/>
                                        </p:tgtEl>
                                        <p:attrNameLst>
                                          <p:attrName>style.visibility</p:attrName>
                                        </p:attrNameLst>
                                      </p:cBhvr>
                                      <p:to>
                                        <p:strVal val="visible"/>
                                      </p:to>
                                    </p:set>
                                    <p:animEffect transition="in" filter="wheel(1)">
                                      <p:cBhvr>
                                        <p:cTn id="48" dur="1250"/>
                                        <p:tgtEl>
                                          <p:spTgt spid="3089"/>
                                        </p:tgtEl>
                                      </p:cBhvr>
                                    </p:animEffect>
                                  </p:childTnLst>
                                </p:cTn>
                              </p:par>
                              <p:par>
                                <p:cTn id="49" presetID="21" presetClass="entr" presetSubtype="1" fill="hold" nodeType="withEffect">
                                  <p:stCondLst>
                                    <p:cond delay="0"/>
                                  </p:stCondLst>
                                  <p:childTnLst>
                                    <p:set>
                                      <p:cBhvr>
                                        <p:cTn id="50" dur="1" fill="hold">
                                          <p:stCondLst>
                                            <p:cond delay="0"/>
                                          </p:stCondLst>
                                        </p:cTn>
                                        <p:tgtEl>
                                          <p:spTgt spid="3088"/>
                                        </p:tgtEl>
                                        <p:attrNameLst>
                                          <p:attrName>style.visibility</p:attrName>
                                        </p:attrNameLst>
                                      </p:cBhvr>
                                      <p:to>
                                        <p:strVal val="visible"/>
                                      </p:to>
                                    </p:set>
                                    <p:animEffect transition="in" filter="wheel(1)">
                                      <p:cBhvr>
                                        <p:cTn id="51" dur="1250"/>
                                        <p:tgtEl>
                                          <p:spTgt spid="3088"/>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nodeType="clickEffect">
                                  <p:stCondLst>
                                    <p:cond delay="0"/>
                                  </p:stCondLst>
                                  <p:childTnLst>
                                    <p:set>
                                      <p:cBhvr>
                                        <p:cTn id="55" dur="1" fill="hold">
                                          <p:stCondLst>
                                            <p:cond delay="0"/>
                                          </p:stCondLst>
                                        </p:cTn>
                                        <p:tgtEl>
                                          <p:spTgt spid="7"/>
                                        </p:tgtEl>
                                        <p:attrNameLst>
                                          <p:attrName>style.visibility</p:attrName>
                                        </p:attrNameLst>
                                      </p:cBhvr>
                                      <p:to>
                                        <p:strVal val="visible"/>
                                      </p:to>
                                    </p:set>
                                    <p:animEffect transition="in" filter="circle(in)">
                                      <p:cBhvr>
                                        <p:cTn id="56" dur="2000"/>
                                        <p:tgtEl>
                                          <p:spTgt spid="7"/>
                                        </p:tgtEl>
                                      </p:cBhvr>
                                    </p:animEffect>
                                  </p:childTnLst>
                                </p:cTn>
                              </p:par>
                              <p:par>
                                <p:cTn id="57" presetID="6" presetClass="entr" presetSubtype="16" fill="hold" grpId="0" nodeType="withEffect">
                                  <p:stCondLst>
                                    <p:cond delay="0"/>
                                  </p:stCondLst>
                                  <p:childTnLst>
                                    <p:set>
                                      <p:cBhvr>
                                        <p:cTn id="58" dur="1" fill="hold">
                                          <p:stCondLst>
                                            <p:cond delay="0"/>
                                          </p:stCondLst>
                                        </p:cTn>
                                        <p:tgtEl>
                                          <p:spTgt spid="10"/>
                                        </p:tgtEl>
                                        <p:attrNameLst>
                                          <p:attrName>style.visibility</p:attrName>
                                        </p:attrNameLst>
                                      </p:cBhvr>
                                      <p:to>
                                        <p:strVal val="visible"/>
                                      </p:to>
                                    </p:set>
                                    <p:animEffect transition="in" filter="circle(in)">
                                      <p:cBhvr>
                                        <p:cTn id="59"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1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400" y="2514600"/>
            <a:ext cx="12192000" cy="1200329"/>
          </a:xfrm>
          <a:prstGeom prst="rect">
            <a:avLst/>
          </a:prstGeom>
          <a:noFill/>
        </p:spPr>
        <p:txBody>
          <a:bodyPr wrap="square" rtlCol="0">
            <a:spAutoFit/>
          </a:bodyPr>
          <a:lstStyle/>
          <a:p>
            <a:pPr algn="just"/>
            <a:r>
              <a:rPr lang="en-US" sz="3600" b="1" u="sng" spc="300"/>
              <a:t>XIÊM(THÁI LAN) ĐÃ CÓ NHỮNG CHÍNH SÁCH NHƯ THẾ NÀO?</a:t>
            </a:r>
          </a:p>
        </p:txBody>
      </p:sp>
    </p:spTree>
    <p:extLst>
      <p:ext uri="{BB962C8B-B14F-4D97-AF65-F5344CB8AC3E}">
        <p14:creationId xmlns:p14="http://schemas.microsoft.com/office/powerpoint/2010/main" val="473274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3"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
                                        <p:tgtEl>
                                          <p:spTgt spid="3"/>
                                        </p:tgtEl>
                                      </p:cBhvr>
                                    </p:animEffect>
                                    <p:anim calcmode="lin" valueType="num">
                                      <p:cBhvr>
                                        <p:cTn id="8" dur="400" fill="hold"/>
                                        <p:tgtEl>
                                          <p:spTgt spid="3"/>
                                        </p:tgtEl>
                                        <p:attrNameLst>
                                          <p:attrName>ppt_x</p:attrName>
                                        </p:attrNameLst>
                                      </p:cBhvr>
                                      <p:tavLst>
                                        <p:tav tm="0">
                                          <p:val>
                                            <p:strVal val="#ppt_x"/>
                                          </p:val>
                                        </p:tav>
                                        <p:tav tm="100000">
                                          <p:val>
                                            <p:strVal val="#ppt_x"/>
                                          </p:val>
                                        </p:tav>
                                      </p:tavLst>
                                    </p:anim>
                                    <p:anim calcmode="lin" valueType="num">
                                      <p:cBhvr>
                                        <p:cTn id="9" dur="400" fill="hold"/>
                                        <p:tgtEl>
                                          <p:spTgt spid="3"/>
                                        </p:tgtEl>
                                        <p:attrNameLst>
                                          <p:attrName>ppt_y</p:attrName>
                                        </p:attrNameLst>
                                      </p:cBhvr>
                                      <p:tavLst>
                                        <p:tav tm="0">
                                          <p:val>
                                            <p:strVal val="#ppt_y+0.31"/>
                                          </p:val>
                                        </p:tav>
                                        <p:tav tm="100000">
                                          <p:val>
                                            <p:strVal val="#ppt_y+0.31"/>
                                          </p:val>
                                        </p:tav>
                                      </p:tavLst>
                                    </p:anim>
                                    <p:anim calcmode="lin" valueType="num">
                                      <p:cBhvr>
                                        <p:cTn id="10" dur="600" decel="50000" fill="hold">
                                          <p:stCondLst>
                                            <p:cond delay="400"/>
                                          </p:stCondLst>
                                        </p:cTn>
                                        <p:tgtEl>
                                          <p:spTgt spid="3"/>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11" dur="600" decel="50000" fill="hold">
                                          <p:stCondLst>
                                            <p:cond delay="400"/>
                                          </p:stCondLst>
                                        </p:cTn>
                                        <p:tgtEl>
                                          <p:spTgt spid="3"/>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1659284"/>
            <a:ext cx="3733800" cy="3539430"/>
          </a:xfrm>
          <a:prstGeom prst="rect">
            <a:avLst/>
          </a:prstGeom>
          <a:noFill/>
        </p:spPr>
        <p:txBody>
          <a:bodyPr wrap="square" rtlCol="0">
            <a:spAutoFit/>
          </a:bodyPr>
          <a:lstStyle/>
          <a:p>
            <a:r>
              <a:rPr lang="en-US" sz="3200">
                <a:effectLst>
                  <a:outerShdw blurRad="38100" dist="38100" dir="2700000" algn="tl">
                    <a:srgbClr val="000000">
                      <a:alpha val="43137"/>
                    </a:srgbClr>
                  </a:outerShdw>
                </a:effectLst>
              </a:rPr>
              <a:t>Giữa thế kỉ XIX, đứng trước sự đe doạ xâm nhập của thực dân phương Tây các triều đại Rama thi hành chính sách “ đóng cửa”</a:t>
            </a:r>
          </a:p>
        </p:txBody>
      </p:sp>
      <p:pic>
        <p:nvPicPr>
          <p:cNvPr id="4098" name="Picture 2" descr="Hơn 9.000 doanh nghiệp đóng cửa mỗi tháng, chủ yếu là doanh nghiệp nhỏ"/>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93122" y="771524"/>
            <a:ext cx="6343650" cy="53149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0815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98"/>
                                        </p:tgtEl>
                                        <p:attrNameLst>
                                          <p:attrName>style.visibility</p:attrName>
                                        </p:attrNameLst>
                                      </p:cBhvr>
                                      <p:to>
                                        <p:strVal val="visible"/>
                                      </p:to>
                                    </p:set>
                                    <p:animEffect transition="in" filter="fade">
                                      <p:cBhvr>
                                        <p:cTn id="12" dur="5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81570"/>
            <a:ext cx="12191999" cy="646331"/>
          </a:xfrm>
          <a:prstGeom prst="rect">
            <a:avLst/>
          </a:prstGeom>
          <a:noFill/>
        </p:spPr>
        <p:txBody>
          <a:bodyPr wrap="square" rtlCol="0">
            <a:spAutoFit/>
          </a:bodyPr>
          <a:lstStyle/>
          <a:p>
            <a:pPr algn="ctr"/>
            <a:r>
              <a:rPr lang="en-US" sz="3600" b="1" u="sng" spc="300">
                <a:effectLst>
                  <a:outerShdw blurRad="38100" dist="38100" dir="2700000" algn="tl">
                    <a:srgbClr val="000000">
                      <a:alpha val="43137"/>
                    </a:srgbClr>
                  </a:outerShdw>
                </a:effectLst>
              </a:rPr>
              <a:t>VUA RAMA IV ( trị vì 1851 – 1868 )</a:t>
            </a:r>
          </a:p>
        </p:txBody>
      </p:sp>
      <p:pic>
        <p:nvPicPr>
          <p:cNvPr id="5122" name="Picture 2" descr="Vua Rama IV - Lịch sử 11 - Đoàn Thị Hồng Điệp - Chào mừng bạn đến với  website của Đoàn Thị Hồng Điệ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990600"/>
            <a:ext cx="3025588" cy="27432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king mongkut rama IV (1804-1868) introduced Siam to the western world.  which was later made popular a very popular musical | โปสเตอร์ภาพ,  ภาพหายาก, ราชวงศ์"/>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0855" y="990600"/>
            <a:ext cx="3796145" cy="5673130"/>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Vua Mongkut và đường lối cách tân Thái Lan theo Phật giáo | Nghiên Cứu Lịch  Sử"/>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3747655"/>
            <a:ext cx="3025588" cy="3124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2778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5122"/>
                                        </p:tgtEl>
                                        <p:attrNameLst>
                                          <p:attrName>style.visibility</p:attrName>
                                        </p:attrNameLst>
                                      </p:cBhvr>
                                      <p:to>
                                        <p:strVal val="visible"/>
                                      </p:to>
                                    </p:set>
                                    <p:anim calcmode="lin" valueType="num">
                                      <p:cBhvr>
                                        <p:cTn id="13" dur="1000" fill="hold"/>
                                        <p:tgtEl>
                                          <p:spTgt spid="5122"/>
                                        </p:tgtEl>
                                        <p:attrNameLst>
                                          <p:attrName>ppt_w</p:attrName>
                                        </p:attrNameLst>
                                      </p:cBhvr>
                                      <p:tavLst>
                                        <p:tav tm="0">
                                          <p:val>
                                            <p:fltVal val="0"/>
                                          </p:val>
                                        </p:tav>
                                        <p:tav tm="100000">
                                          <p:val>
                                            <p:strVal val="#ppt_w"/>
                                          </p:val>
                                        </p:tav>
                                      </p:tavLst>
                                    </p:anim>
                                    <p:anim calcmode="lin" valueType="num">
                                      <p:cBhvr>
                                        <p:cTn id="14" dur="1000" fill="hold"/>
                                        <p:tgtEl>
                                          <p:spTgt spid="5122"/>
                                        </p:tgtEl>
                                        <p:attrNameLst>
                                          <p:attrName>ppt_h</p:attrName>
                                        </p:attrNameLst>
                                      </p:cBhvr>
                                      <p:tavLst>
                                        <p:tav tm="0">
                                          <p:val>
                                            <p:fltVal val="0"/>
                                          </p:val>
                                        </p:tav>
                                        <p:tav tm="100000">
                                          <p:val>
                                            <p:strVal val="#ppt_h"/>
                                          </p:val>
                                        </p:tav>
                                      </p:tavLst>
                                    </p:anim>
                                    <p:animEffect transition="in" filter="fade">
                                      <p:cBhvr>
                                        <p:cTn id="15" dur="1000"/>
                                        <p:tgtEl>
                                          <p:spTgt spid="5122"/>
                                        </p:tgtEl>
                                      </p:cBhvr>
                                    </p:animEffect>
                                  </p:childTnLst>
                                </p:cTn>
                              </p:par>
                              <p:par>
                                <p:cTn id="16" presetID="53" presetClass="entr" presetSubtype="16" fill="hold" nodeType="withEffect">
                                  <p:stCondLst>
                                    <p:cond delay="1000"/>
                                  </p:stCondLst>
                                  <p:childTnLst>
                                    <p:set>
                                      <p:cBhvr>
                                        <p:cTn id="17" dur="1" fill="hold">
                                          <p:stCondLst>
                                            <p:cond delay="0"/>
                                          </p:stCondLst>
                                        </p:cTn>
                                        <p:tgtEl>
                                          <p:spTgt spid="5126"/>
                                        </p:tgtEl>
                                        <p:attrNameLst>
                                          <p:attrName>style.visibility</p:attrName>
                                        </p:attrNameLst>
                                      </p:cBhvr>
                                      <p:to>
                                        <p:strVal val="visible"/>
                                      </p:to>
                                    </p:set>
                                    <p:anim calcmode="lin" valueType="num">
                                      <p:cBhvr>
                                        <p:cTn id="18" dur="1000" fill="hold"/>
                                        <p:tgtEl>
                                          <p:spTgt spid="5126"/>
                                        </p:tgtEl>
                                        <p:attrNameLst>
                                          <p:attrName>ppt_w</p:attrName>
                                        </p:attrNameLst>
                                      </p:cBhvr>
                                      <p:tavLst>
                                        <p:tav tm="0">
                                          <p:val>
                                            <p:fltVal val="0"/>
                                          </p:val>
                                        </p:tav>
                                        <p:tav tm="100000">
                                          <p:val>
                                            <p:strVal val="#ppt_w"/>
                                          </p:val>
                                        </p:tav>
                                      </p:tavLst>
                                    </p:anim>
                                    <p:anim calcmode="lin" valueType="num">
                                      <p:cBhvr>
                                        <p:cTn id="19" dur="1000" fill="hold"/>
                                        <p:tgtEl>
                                          <p:spTgt spid="5126"/>
                                        </p:tgtEl>
                                        <p:attrNameLst>
                                          <p:attrName>ppt_h</p:attrName>
                                        </p:attrNameLst>
                                      </p:cBhvr>
                                      <p:tavLst>
                                        <p:tav tm="0">
                                          <p:val>
                                            <p:fltVal val="0"/>
                                          </p:val>
                                        </p:tav>
                                        <p:tav tm="100000">
                                          <p:val>
                                            <p:strVal val="#ppt_h"/>
                                          </p:val>
                                        </p:tav>
                                      </p:tavLst>
                                    </p:anim>
                                    <p:animEffect transition="in" filter="fade">
                                      <p:cBhvr>
                                        <p:cTn id="20" dur="1000"/>
                                        <p:tgtEl>
                                          <p:spTgt spid="5126"/>
                                        </p:tgtEl>
                                      </p:cBhvr>
                                    </p:animEffect>
                                  </p:childTnLst>
                                </p:cTn>
                              </p:par>
                              <p:par>
                                <p:cTn id="21" presetID="53" presetClass="entr" presetSubtype="16" fill="hold" nodeType="withEffect">
                                  <p:stCondLst>
                                    <p:cond delay="2000"/>
                                  </p:stCondLst>
                                  <p:childTnLst>
                                    <p:set>
                                      <p:cBhvr>
                                        <p:cTn id="22" dur="1" fill="hold">
                                          <p:stCondLst>
                                            <p:cond delay="0"/>
                                          </p:stCondLst>
                                        </p:cTn>
                                        <p:tgtEl>
                                          <p:spTgt spid="5124"/>
                                        </p:tgtEl>
                                        <p:attrNameLst>
                                          <p:attrName>style.visibility</p:attrName>
                                        </p:attrNameLst>
                                      </p:cBhvr>
                                      <p:to>
                                        <p:strVal val="visible"/>
                                      </p:to>
                                    </p:set>
                                    <p:anim calcmode="lin" valueType="num">
                                      <p:cBhvr>
                                        <p:cTn id="23" dur="1000" fill="hold"/>
                                        <p:tgtEl>
                                          <p:spTgt spid="5124"/>
                                        </p:tgtEl>
                                        <p:attrNameLst>
                                          <p:attrName>ppt_w</p:attrName>
                                        </p:attrNameLst>
                                      </p:cBhvr>
                                      <p:tavLst>
                                        <p:tav tm="0">
                                          <p:val>
                                            <p:fltVal val="0"/>
                                          </p:val>
                                        </p:tav>
                                        <p:tav tm="100000">
                                          <p:val>
                                            <p:strVal val="#ppt_w"/>
                                          </p:val>
                                        </p:tav>
                                      </p:tavLst>
                                    </p:anim>
                                    <p:anim calcmode="lin" valueType="num">
                                      <p:cBhvr>
                                        <p:cTn id="24" dur="1000" fill="hold"/>
                                        <p:tgtEl>
                                          <p:spTgt spid="5124"/>
                                        </p:tgtEl>
                                        <p:attrNameLst>
                                          <p:attrName>ppt_h</p:attrName>
                                        </p:attrNameLst>
                                      </p:cBhvr>
                                      <p:tavLst>
                                        <p:tav tm="0">
                                          <p:val>
                                            <p:fltVal val="0"/>
                                          </p:val>
                                        </p:tav>
                                        <p:tav tm="100000">
                                          <p:val>
                                            <p:strVal val="#ppt_h"/>
                                          </p:val>
                                        </p:tav>
                                      </p:tavLst>
                                    </p:anim>
                                    <p:animEffect transition="in" filter="fade">
                                      <p:cBhvr>
                                        <p:cTn id="25" dur="1000"/>
                                        <p:tgtEl>
                                          <p:spTgt spid="5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u="sng" spc="300">
                <a:effectLst>
                  <a:outerShdw blurRad="38100" dist="38100" dir="2700000" algn="tl">
                    <a:srgbClr val="000000">
                      <a:alpha val="43137"/>
                    </a:srgbClr>
                  </a:outerShdw>
                </a:effectLst>
              </a:rPr>
              <a:t>VUA RAMA IV</a:t>
            </a:r>
          </a:p>
        </p:txBody>
      </p:sp>
      <p:sp>
        <p:nvSpPr>
          <p:cNvPr id="4" name="Text Placeholder 3"/>
          <p:cNvSpPr>
            <a:spLocks noGrp="1"/>
          </p:cNvSpPr>
          <p:nvPr>
            <p:ph type="body" sz="half" idx="2"/>
          </p:nvPr>
        </p:nvSpPr>
        <p:spPr/>
        <p:txBody>
          <a:bodyPr>
            <a:noAutofit/>
          </a:bodyPr>
          <a:lstStyle/>
          <a:p>
            <a:pPr marL="457200" indent="-457200">
              <a:buFont typeface="Arial" panose="020B0604020202020204" pitchFamily="34" charset="0"/>
              <a:buChar char="•"/>
            </a:pPr>
            <a:r>
              <a:rPr lang="en-US" sz="3200">
                <a:effectLst>
                  <a:outerShdw blurRad="38100" dist="38100" dir="2700000" algn="tl">
                    <a:srgbClr val="000000">
                      <a:alpha val="43137"/>
                    </a:srgbClr>
                  </a:outerShdw>
                </a:effectLst>
              </a:rPr>
              <a:t>Ông đã mở cửa buôn bán với bên ngoài, lợi dụng sự kiềm chế lẫn nhau giữa các nước tư bản để bảo vệ độc lập</a:t>
            </a:r>
          </a:p>
        </p:txBody>
      </p:sp>
      <p:pic>
        <p:nvPicPr>
          <p:cNvPr id="5" name="Content Placeholder 4" descr="king mongkut rama IV (1804-1868) introduced Siam to the western world.  which was later made popular a very popular musical | โปสเตอร์ภาพ,  ภาพหายาก, ราชวงศ์"/>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19801" y="228600"/>
            <a:ext cx="4140835" cy="6188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3339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8" presetClass="entr" presetSubtype="0" accel="5000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set>
                                      <p:cBhvr>
                                        <p:cTn id="7" dur="114" fill="hold">
                                          <p:stCondLst>
                                            <p:cond delay="0"/>
                                          </p:stCondLst>
                                        </p:cTn>
                                        <p:tgtEl>
                                          <p:spTgt spid="2"/>
                                        </p:tgtEl>
                                        <p:attrNameLst>
                                          <p:attrName>style.rotation</p:attrName>
                                        </p:attrNameLst>
                                      </p:cBhvr>
                                      <p:to>
                                        <p:strVal val="-45.0"/>
                                      </p:to>
                                    </p:set>
                                    <p:anim calcmode="lin" valueType="num">
                                      <p:cBhvr>
                                        <p:cTn id="8" dur="114" fill="hold">
                                          <p:stCondLst>
                                            <p:cond delay="114"/>
                                          </p:stCondLst>
                                        </p:cTn>
                                        <p:tgtEl>
                                          <p:spTgt spid="2"/>
                                        </p:tgtEl>
                                        <p:attrNameLst>
                                          <p:attrName>style.rotation</p:attrName>
                                        </p:attrNameLst>
                                      </p:cBhvr>
                                      <p:tavLst>
                                        <p:tav tm="0">
                                          <p:val>
                                            <p:fltVal val="-45"/>
                                          </p:val>
                                        </p:tav>
                                        <p:tav tm="69900">
                                          <p:val>
                                            <p:fltVal val="45"/>
                                          </p:val>
                                        </p:tav>
                                        <p:tav tm="100000">
                                          <p:val>
                                            <p:fltVal val="0"/>
                                          </p:val>
                                        </p:tav>
                                      </p:tavLst>
                                    </p:anim>
                                    <p:anim calcmode="lin" valueType="num">
                                      <p:cBhvr>
                                        <p:cTn id="9" dur="114" fill="hold">
                                          <p:stCondLst>
                                            <p:cond delay="0"/>
                                          </p:stCondLst>
                                        </p:cTn>
                                        <p:tgtEl>
                                          <p:spTgt spid="2"/>
                                        </p:tgtEl>
                                        <p:attrNameLst>
                                          <p:attrName>ppt_y</p:attrName>
                                        </p:attrNameLst>
                                      </p:cBhvr>
                                      <p:tavLst>
                                        <p:tav tm="0">
                                          <p:val>
                                            <p:strVal val="#ppt_y-1"/>
                                          </p:val>
                                        </p:tav>
                                        <p:tav tm="100000">
                                          <p:val>
                                            <p:strVal val="#ppt_y-(0.354*#ppt_w-0.172*#ppt_h)"/>
                                          </p:val>
                                        </p:tav>
                                      </p:tavLst>
                                    </p:anim>
                                    <p:anim calcmode="lin" valueType="num">
                                      <p:cBhvr>
                                        <p:cTn id="10" dur="39" decel="50000" autoRev="1" fill="hold">
                                          <p:stCondLst>
                                            <p:cond delay="114"/>
                                          </p:stCondLst>
                                        </p:cTn>
                                        <p:tgtEl>
                                          <p:spTgt spid="2"/>
                                        </p:tgtEl>
                                        <p:attrNameLst>
                                          <p:attrName>ppt_y</p:attrName>
                                        </p:attrNameLst>
                                      </p:cBhvr>
                                      <p:tavLst>
                                        <p:tav tm="0">
                                          <p:val>
                                            <p:strVal val="#ppt_y-(0.354*#ppt_w-0.172*#ppt_h)"/>
                                          </p:val>
                                        </p:tav>
                                        <p:tav tm="100000">
                                          <p:val>
                                            <p:strVal val="#ppt_y-(0.354*#ppt_w-0.172*#ppt_h)-#ppt_h/2"/>
                                          </p:val>
                                        </p:tav>
                                      </p:tavLst>
                                    </p:anim>
                                    <p:anim calcmode="lin" valueType="num">
                                      <p:cBhvr>
                                        <p:cTn id="11" dur="34" fill="hold">
                                          <p:stCondLst>
                                            <p:cond delay="216"/>
                                          </p:stCondLst>
                                        </p:cTn>
                                        <p:tgtEl>
                                          <p:spTgt spid="2"/>
                                        </p:tgtEl>
                                        <p:attrNameLst>
                                          <p:attrName>ppt_y</p:attrName>
                                        </p:attrNameLst>
                                      </p:cBhvr>
                                      <p:tavLst>
                                        <p:tav tm="0">
                                          <p:val>
                                            <p:strVal val="#ppt_y-(0.354*#ppt_w-0.172*#ppt_h)"/>
                                          </p:val>
                                        </p:tav>
                                        <p:tav tm="100000">
                                          <p:val>
                                            <p:strVal val="#ppt_y"/>
                                          </p:val>
                                        </p:tav>
                                      </p:tavLst>
                                    </p:anim>
                                  </p:childTnLst>
                                </p:cTn>
                              </p:par>
                              <p:par>
                                <p:cTn id="12" presetID="38" presetClass="entr" presetSubtype="0" accel="50000" fill="hold" grpId="0" nodeType="withEffect">
                                  <p:stCondLst>
                                    <p:cond delay="1000"/>
                                  </p:stCondLst>
                                  <p:iterate type="lt">
                                    <p:tmPct val="49816"/>
                                  </p:iterate>
                                  <p:childTnLst>
                                    <p:set>
                                      <p:cBhvr>
                                        <p:cTn id="13" dur="1" fill="hold">
                                          <p:stCondLst>
                                            <p:cond delay="0"/>
                                          </p:stCondLst>
                                        </p:cTn>
                                        <p:tgtEl>
                                          <p:spTgt spid="4">
                                            <p:txEl>
                                              <p:pRg st="0" end="0"/>
                                            </p:txEl>
                                          </p:spTgt>
                                        </p:tgtEl>
                                        <p:attrNameLst>
                                          <p:attrName>style.visibility</p:attrName>
                                        </p:attrNameLst>
                                      </p:cBhvr>
                                      <p:to>
                                        <p:strVal val="visible"/>
                                      </p:to>
                                    </p:set>
                                    <p:set>
                                      <p:cBhvr>
                                        <p:cTn id="14" dur="46" fill="hold">
                                          <p:stCondLst>
                                            <p:cond delay="0"/>
                                          </p:stCondLst>
                                        </p:cTn>
                                        <p:tgtEl>
                                          <p:spTgt spid="4">
                                            <p:txEl>
                                              <p:pRg st="0" end="0"/>
                                            </p:txEl>
                                          </p:spTgt>
                                        </p:tgtEl>
                                        <p:attrNameLst>
                                          <p:attrName>style.rotation</p:attrName>
                                        </p:attrNameLst>
                                      </p:cBhvr>
                                      <p:to>
                                        <p:strVal val="-45.0"/>
                                      </p:to>
                                    </p:set>
                                    <p:anim calcmode="lin" valueType="num">
                                      <p:cBhvr>
                                        <p:cTn id="15" dur="46" fill="hold">
                                          <p:stCondLst>
                                            <p:cond delay="46"/>
                                          </p:stCondLst>
                                        </p:cTn>
                                        <p:tgtEl>
                                          <p:spTgt spid="4">
                                            <p:txEl>
                                              <p:pRg st="0" end="0"/>
                                            </p:txEl>
                                          </p:spTgt>
                                        </p:tgtEl>
                                        <p:attrNameLst>
                                          <p:attrName>style.rotation</p:attrName>
                                        </p:attrNameLst>
                                      </p:cBhvr>
                                      <p:tavLst>
                                        <p:tav tm="0">
                                          <p:val>
                                            <p:fltVal val="-45"/>
                                          </p:val>
                                        </p:tav>
                                        <p:tav tm="69900">
                                          <p:val>
                                            <p:fltVal val="45"/>
                                          </p:val>
                                        </p:tav>
                                        <p:tav tm="100000">
                                          <p:val>
                                            <p:fltVal val="0"/>
                                          </p:val>
                                        </p:tav>
                                      </p:tavLst>
                                    </p:anim>
                                    <p:anim calcmode="lin" valueType="num">
                                      <p:cBhvr>
                                        <p:cTn id="16" dur="46" fill="hold">
                                          <p:stCondLst>
                                            <p:cond delay="0"/>
                                          </p:stCondLst>
                                        </p:cTn>
                                        <p:tgtEl>
                                          <p:spTgt spid="4">
                                            <p:txEl>
                                              <p:pRg st="0" end="0"/>
                                            </p:txEl>
                                          </p:spTgt>
                                        </p:tgtEl>
                                        <p:attrNameLst>
                                          <p:attrName>ppt_y</p:attrName>
                                        </p:attrNameLst>
                                      </p:cBhvr>
                                      <p:tavLst>
                                        <p:tav tm="0">
                                          <p:val>
                                            <p:strVal val="#ppt_y-1"/>
                                          </p:val>
                                        </p:tav>
                                        <p:tav tm="100000">
                                          <p:val>
                                            <p:strVal val="#ppt_y-(0.354*#ppt_w-0.172*#ppt_h)"/>
                                          </p:val>
                                        </p:tav>
                                      </p:tavLst>
                                    </p:anim>
                                    <p:anim calcmode="lin" valueType="num">
                                      <p:cBhvr>
                                        <p:cTn id="17" dur="2" decel="50000" autoRev="1" fill="hold">
                                          <p:stCondLst>
                                            <p:cond delay="46"/>
                                          </p:stCondLst>
                                        </p:cTn>
                                        <p:tgtEl>
                                          <p:spTgt spid="4">
                                            <p:txEl>
                                              <p:pRg st="0" end="0"/>
                                            </p:txEl>
                                          </p:spTgt>
                                        </p:tgtEl>
                                        <p:attrNameLst>
                                          <p:attrName>ppt_y</p:attrName>
                                        </p:attrNameLst>
                                      </p:cBhvr>
                                      <p:tavLst>
                                        <p:tav tm="0">
                                          <p:val>
                                            <p:strVal val="#ppt_y-(0.354*#ppt_w-0.172*#ppt_h)"/>
                                          </p:val>
                                        </p:tav>
                                        <p:tav tm="100000">
                                          <p:val>
                                            <p:strVal val="#ppt_y-(0.354*#ppt_w-0.172*#ppt_h)-#ppt_h/2"/>
                                          </p:val>
                                        </p:tav>
                                      </p:tavLst>
                                    </p:anim>
                                    <p:anim calcmode="lin" valueType="num">
                                      <p:cBhvr>
                                        <p:cTn id="18" dur="1" fill="hold">
                                          <p:stCondLst>
                                            <p:cond delay="99"/>
                                          </p:stCondLst>
                                        </p:cTn>
                                        <p:tgtEl>
                                          <p:spTgt spid="4">
                                            <p:txEl>
                                              <p:pRg st="0" end="0"/>
                                            </p:txEl>
                                          </p:spTgt>
                                        </p:tgtEl>
                                        <p:attrNameLst>
                                          <p:attrName>ppt_y</p:attrName>
                                        </p:attrNameLst>
                                      </p:cBhvr>
                                      <p:tavLst>
                                        <p:tav tm="0">
                                          <p:val>
                                            <p:strVal val="#ppt_y-(0.354*#ppt_w-0.172*#ppt_h)"/>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304801"/>
            <a:ext cx="12192000" cy="1200329"/>
          </a:xfrm>
          <a:prstGeom prst="rect">
            <a:avLst/>
          </a:prstGeom>
          <a:noFill/>
        </p:spPr>
        <p:txBody>
          <a:bodyPr wrap="square" rtlCol="0">
            <a:spAutoFit/>
          </a:bodyPr>
          <a:lstStyle/>
          <a:p>
            <a:pPr marL="285750" indent="-285750">
              <a:buFont typeface="Arial" panose="020B0604020202020204" pitchFamily="34" charset="0"/>
              <a:buChar char="•"/>
            </a:pPr>
            <a:r>
              <a:rPr lang="en-US" sz="3600" spc="300">
                <a:effectLst>
                  <a:outerShdw blurRad="38100" dist="38100" dir="2700000" algn="tl">
                    <a:srgbClr val="000000">
                      <a:alpha val="43137"/>
                    </a:srgbClr>
                  </a:outerShdw>
                </a:effectLst>
              </a:rPr>
              <a:t>Năm 1868 , Chu-la-long-con lên ngôi ( hiệu là Rama V )</a:t>
            </a:r>
          </a:p>
        </p:txBody>
      </p:sp>
      <p:pic>
        <p:nvPicPr>
          <p:cNvPr id="6146" name="Picture 2" descr="Chulalongkorn - Wikiped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828800"/>
            <a:ext cx="3352800" cy="4511042"/>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The Story of King Rama V - Royal Coster Diamond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7674" y="1828800"/>
            <a:ext cx="3563527" cy="4510794"/>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p:cNvCxnSpPr>
            <a:cxnSpLocks/>
          </p:cNvCxnSpPr>
          <p:nvPr/>
        </p:nvCxnSpPr>
        <p:spPr>
          <a:xfrm>
            <a:off x="5715000" y="5029200"/>
            <a:ext cx="0" cy="17526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6213836-D14F-462F-A34C-70F8BC5A1728}"/>
              </a:ext>
            </a:extLst>
          </p:cNvPr>
          <p:cNvSpPr txBox="1"/>
          <p:nvPr/>
        </p:nvSpPr>
        <p:spPr>
          <a:xfrm>
            <a:off x="0" y="304801"/>
            <a:ext cx="12191994" cy="646331"/>
          </a:xfrm>
          <a:prstGeom prst="rect">
            <a:avLst/>
          </a:prstGeom>
          <a:noFill/>
        </p:spPr>
        <p:txBody>
          <a:bodyPr wrap="square" rtlCol="0">
            <a:spAutoFit/>
          </a:bodyPr>
          <a:lstStyle/>
          <a:p>
            <a:pPr marL="285750" indent="-285750">
              <a:buFont typeface="Arial" panose="020B0604020202020204" pitchFamily="34" charset="0"/>
              <a:buChar char="•"/>
            </a:pPr>
            <a:r>
              <a:rPr lang="en-US" sz="3600" spc="300">
                <a:effectLst>
                  <a:outerShdw blurRad="38100" dist="38100" dir="2700000" algn="tl">
                    <a:srgbClr val="000000">
                      <a:alpha val="43137"/>
                    </a:srgbClr>
                  </a:outerShdw>
                </a:effectLst>
              </a:rPr>
              <a:t>Sau khi lên ngôi, ông thực hiện nhiều cải cách:</a:t>
            </a:r>
          </a:p>
        </p:txBody>
      </p:sp>
    </p:spTree>
    <p:extLst>
      <p:ext uri="{BB962C8B-B14F-4D97-AF65-F5344CB8AC3E}">
        <p14:creationId xmlns:p14="http://schemas.microsoft.com/office/powerpoint/2010/main" val="1161800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nodeType="clickEffect">
                                  <p:stCondLst>
                                    <p:cond delay="0"/>
                                  </p:stCondLst>
                                  <p:childTnLst>
                                    <p:animEffect transition="out" filter="fade">
                                      <p:cBhvr>
                                        <p:cTn id="10" dur="500"/>
                                        <p:tgtEl>
                                          <p:spTgt spid="6146"/>
                                        </p:tgtEl>
                                      </p:cBhvr>
                                    </p:animEffect>
                                    <p:set>
                                      <p:cBhvr>
                                        <p:cTn id="11" dur="1" fill="hold">
                                          <p:stCondLst>
                                            <p:cond delay="499"/>
                                          </p:stCondLst>
                                        </p:cTn>
                                        <p:tgtEl>
                                          <p:spTgt spid="6146"/>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nodeType="clickEffect">
                                  <p:stCondLst>
                                    <p:cond delay="0"/>
                                  </p:stCondLst>
                                  <p:childTnLst>
                                    <p:animEffect transition="out" filter="fade">
                                      <p:cBhvr>
                                        <p:cTn id="15" dur="500"/>
                                        <p:tgtEl>
                                          <p:spTgt spid="6148"/>
                                        </p:tgtEl>
                                      </p:cBhvr>
                                    </p:animEffect>
                                    <p:set>
                                      <p:cBhvr>
                                        <p:cTn id="16" dur="1" fill="hold">
                                          <p:stCondLst>
                                            <p:cond delay="499"/>
                                          </p:stCondLst>
                                        </p:cTn>
                                        <p:tgtEl>
                                          <p:spTgt spid="6148"/>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grpId="1" nodeType="clickEffect">
                                  <p:stCondLst>
                                    <p:cond delay="0"/>
                                  </p:stCondLst>
                                  <p:childTnLst>
                                    <p:animEffect transition="out" filter="fade">
                                      <p:cBhvr>
                                        <p:cTn id="20" dur="500"/>
                                        <p:tgtEl>
                                          <p:spTgt spid="2"/>
                                        </p:tgtEl>
                                      </p:cBhvr>
                                    </p:animEffect>
                                    <p:set>
                                      <p:cBhvr>
                                        <p:cTn id="21" dur="1" fill="hold">
                                          <p:stCondLst>
                                            <p:cond delay="499"/>
                                          </p:stCondLst>
                                        </p:cTn>
                                        <p:tgtEl>
                                          <p:spTgt spid="2"/>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additive="base">
                                        <p:cTn id="26" dur="500" fill="hold"/>
                                        <p:tgtEl>
                                          <p:spTgt spid="7"/>
                                        </p:tgtEl>
                                        <p:attrNameLst>
                                          <p:attrName>ppt_x</p:attrName>
                                        </p:attrNameLst>
                                      </p:cBhvr>
                                      <p:tavLst>
                                        <p:tav tm="0">
                                          <p:val>
                                            <p:strVal val="#ppt_x"/>
                                          </p:val>
                                        </p:tav>
                                        <p:tav tm="100000">
                                          <p:val>
                                            <p:strVal val="#ppt_x"/>
                                          </p:val>
                                        </p:tav>
                                      </p:tavLst>
                                    </p:anim>
                                    <p:anim calcmode="lin" valueType="num">
                                      <p:cBhvr additive="base">
                                        <p:cTn id="2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7" presetClass="entr" presetSubtype="0"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1000"/>
                                        <p:tgtEl>
                                          <p:spTgt spid="5"/>
                                        </p:tgtEl>
                                      </p:cBhvr>
                                    </p:animEffect>
                                    <p:anim calcmode="lin" valueType="num">
                                      <p:cBhvr>
                                        <p:cTn id="33" dur="1000" fill="hold"/>
                                        <p:tgtEl>
                                          <p:spTgt spid="5"/>
                                        </p:tgtEl>
                                        <p:attrNameLst>
                                          <p:attrName>ppt_x</p:attrName>
                                        </p:attrNameLst>
                                      </p:cBhvr>
                                      <p:tavLst>
                                        <p:tav tm="0">
                                          <p:val>
                                            <p:strVal val="#ppt_x"/>
                                          </p:val>
                                        </p:tav>
                                        <p:tav tm="100000">
                                          <p:val>
                                            <p:strVal val="#ppt_x"/>
                                          </p:val>
                                        </p:tav>
                                      </p:tavLst>
                                    </p:anim>
                                    <p:anim calcmode="lin" valueType="num">
                                      <p:cBhvr>
                                        <p:cTn id="3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28600"/>
            <a:ext cx="12192000" cy="1938992"/>
          </a:xfrm>
          <a:prstGeom prst="rect">
            <a:avLst/>
          </a:prstGeom>
          <a:noFill/>
        </p:spPr>
        <p:txBody>
          <a:bodyPr wrap="square" rtlCol="0">
            <a:spAutoFit/>
          </a:bodyPr>
          <a:lstStyle/>
          <a:p>
            <a:pPr algn="just"/>
            <a:r>
              <a:rPr lang="en-US" sz="3600" spc="300">
                <a:effectLst>
                  <a:outerShdw blurRad="38100" dist="38100" dir="2700000" algn="tl">
                    <a:srgbClr val="000000">
                      <a:alpha val="43137"/>
                    </a:srgbClr>
                  </a:outerShdw>
                </a:effectLst>
              </a:rPr>
              <a:t>	</a:t>
            </a:r>
            <a:r>
              <a:rPr lang="en-US" sz="3600" spc="300">
                <a:solidFill>
                  <a:schemeClr val="accent3">
                    <a:lumMod val="75000"/>
                  </a:schemeClr>
                </a:solidFill>
                <a:effectLst>
                  <a:outerShdw blurRad="38100" dist="38100" dir="2700000" algn="tl">
                    <a:srgbClr val="000000">
                      <a:alpha val="43137"/>
                    </a:srgbClr>
                  </a:outerShdw>
                </a:effectLst>
              </a:rPr>
              <a:t>Nông nghiệp (Kinh tế - xã hội)</a:t>
            </a:r>
          </a:p>
          <a:p>
            <a:pPr algn="just"/>
            <a:r>
              <a:rPr lang="en-US" sz="2800">
                <a:effectLst>
                  <a:outerShdw blurRad="38100" dist="38100" dir="2700000" algn="tl">
                    <a:srgbClr val="000000">
                      <a:alpha val="43137"/>
                    </a:srgbClr>
                  </a:outerShdw>
                </a:effectLst>
              </a:rPr>
              <a:t>Xoá bỏ chế độ </a:t>
            </a:r>
            <a:r>
              <a:rPr lang="en-US" sz="2800" b="1" u="dotted">
                <a:effectLst>
                  <a:outerShdw blurRad="38100" dist="38100" dir="2700000" algn="tl">
                    <a:srgbClr val="000000">
                      <a:alpha val="43137"/>
                    </a:srgbClr>
                  </a:outerShdw>
                </a:effectLst>
              </a:rPr>
              <a:t>nô lệ </a:t>
            </a:r>
            <a:r>
              <a:rPr lang="en-US" sz="2800">
                <a:effectLst>
                  <a:outerShdw blurRad="38100" dist="38100" dir="2700000" algn="tl">
                    <a:srgbClr val="000000">
                      <a:alpha val="43137"/>
                    </a:srgbClr>
                  </a:outerShdw>
                </a:effectLst>
              </a:rPr>
              <a:t>vì nợ, giải phóng số đông người lao động; xoá bỏ </a:t>
            </a:r>
            <a:r>
              <a:rPr lang="en-US" sz="2800" b="1" u="dotted">
                <a:effectLst>
                  <a:outerShdw blurRad="38100" dist="38100" dir="2700000" algn="tl">
                    <a:srgbClr val="000000">
                      <a:alpha val="43137"/>
                    </a:srgbClr>
                  </a:outerShdw>
                </a:effectLst>
              </a:rPr>
              <a:t>nghĩa vụ lao dịch 3 tháng </a:t>
            </a:r>
            <a:r>
              <a:rPr lang="en-US" sz="2800">
                <a:effectLst>
                  <a:outerShdw blurRad="38100" dist="38100" dir="2700000" algn="tl">
                    <a:srgbClr val="000000">
                      <a:alpha val="43137"/>
                    </a:srgbClr>
                  </a:outerShdw>
                </a:effectLst>
              </a:rPr>
              <a:t>cho nông dân; giảm nhẹ </a:t>
            </a:r>
            <a:r>
              <a:rPr lang="en-US" sz="2800" b="1" u="dotted">
                <a:effectLst>
                  <a:outerShdw blurRad="38100" dist="38100" dir="2700000" algn="tl">
                    <a:srgbClr val="000000">
                      <a:alpha val="43137"/>
                    </a:srgbClr>
                  </a:outerShdw>
                </a:effectLst>
              </a:rPr>
              <a:t>thuế ruộng .</a:t>
            </a:r>
          </a:p>
          <a:p>
            <a:pPr marL="285750" indent="-285750" algn="just">
              <a:buFont typeface="Wingdings" panose="05000000000000000000" pitchFamily="2" charset="2"/>
              <a:buChar char="v"/>
            </a:pPr>
            <a:endParaRPr lang="en-US" sz="2800">
              <a:effectLst>
                <a:outerShdw blurRad="38100" dist="38100" dir="2700000" algn="tl">
                  <a:srgbClr val="000000">
                    <a:alpha val="43137"/>
                  </a:srgbClr>
                </a:outerShdw>
              </a:effectLst>
            </a:endParaRPr>
          </a:p>
        </p:txBody>
      </p:sp>
      <p:pic>
        <p:nvPicPr>
          <p:cNvPr id="8194" name="Picture 2" descr="NÔ LỆ VÀ SỰ DÃ MAN, TÀN KHỐC CỦA CHẾ ĐỘ NÔ LỆ"/>
          <p:cNvPicPr>
            <a:picLocks noChangeAspect="1" noChangeArrowheads="1"/>
          </p:cNvPicPr>
          <p:nvPr/>
        </p:nvPicPr>
        <p:blipFill rotWithShape="1">
          <a:blip r:embed="rId2">
            <a:extLst>
              <a:ext uri="{28A0092B-C50C-407E-A947-70E740481C1C}">
                <a14:useLocalDpi xmlns:a14="http://schemas.microsoft.com/office/drawing/2010/main" val="0"/>
              </a:ext>
            </a:extLst>
          </a:blip>
          <a:srcRect r="2699" b="13550"/>
          <a:stretch/>
        </p:blipFill>
        <p:spPr bwMode="auto">
          <a:xfrm>
            <a:off x="1503785" y="2553553"/>
            <a:ext cx="3872345" cy="2136856"/>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Hãy cảnh giác khi sếp vỗ vai bạn và nói: “Cứ đam mê làm việc đi, rồi tiền  bạc, danh vọng sẽ tự đến” đấy thực chất chỉ là một chiêu bó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4699" y="2612416"/>
            <a:ext cx="3509851" cy="2136856"/>
          </a:xfrm>
          <a:prstGeom prst="rect">
            <a:avLst/>
          </a:prstGeom>
          <a:noFill/>
          <a:extLst>
            <a:ext uri="{909E8E84-426E-40DD-AFC4-6F175D3DCCD1}">
              <a14:hiddenFill xmlns:a14="http://schemas.microsoft.com/office/drawing/2010/main">
                <a:solidFill>
                  <a:srgbClr val="FFFFFF"/>
                </a:solidFill>
              </a14:hiddenFill>
            </a:ext>
          </a:extLst>
        </p:spPr>
      </p:pic>
      <p:sp>
        <p:nvSpPr>
          <p:cNvPr id="4" name="Multiply 3"/>
          <p:cNvSpPr/>
          <p:nvPr/>
        </p:nvSpPr>
        <p:spPr>
          <a:xfrm>
            <a:off x="1268257" y="1719498"/>
            <a:ext cx="4343400" cy="3922692"/>
          </a:xfrm>
          <a:prstGeom prst="mathMultiply">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b="1">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5" name="TextBox 4"/>
          <p:cNvSpPr txBox="1"/>
          <p:nvPr/>
        </p:nvSpPr>
        <p:spPr>
          <a:xfrm>
            <a:off x="0" y="1727519"/>
            <a:ext cx="12191999" cy="1077218"/>
          </a:xfrm>
          <a:prstGeom prst="rect">
            <a:avLst/>
          </a:prstGeom>
          <a:noFill/>
        </p:spPr>
        <p:txBody>
          <a:bodyPr wrap="square" rtlCol="0">
            <a:spAutoFit/>
          </a:bodyPr>
          <a:lstStyle/>
          <a:p>
            <a:pPr algn="just"/>
            <a:r>
              <a:rPr lang="en-US" sz="3200" i="1">
                <a:effectLst>
                  <a:outerShdw blurRad="38100" dist="38100" dir="2700000" algn="tl">
                    <a:srgbClr val="000000">
                      <a:alpha val="43137"/>
                    </a:srgbClr>
                  </a:outerShdw>
                </a:effectLst>
              </a:rPr>
              <a:t>-&gt; Nâng cao năng suất lúa, đẩy mạnh xuất khẩu gạo và gỗ tếch.</a:t>
            </a:r>
          </a:p>
          <a:p>
            <a:endParaRPr lang="en-US" sz="3200"/>
          </a:p>
        </p:txBody>
      </p:sp>
      <p:sp>
        <p:nvSpPr>
          <p:cNvPr id="8" name="Multiply 7"/>
          <p:cNvSpPr/>
          <p:nvPr/>
        </p:nvSpPr>
        <p:spPr>
          <a:xfrm>
            <a:off x="6067924" y="1660635"/>
            <a:ext cx="4343400" cy="3922692"/>
          </a:xfrm>
          <a:prstGeom prst="mathMultiply">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b="1">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pic>
        <p:nvPicPr>
          <p:cNvPr id="8198" name="Picture 6" descr="Bón phân gì để cây lúa khoẻ mạnh “đạp đất, đội trời”"/>
          <p:cNvPicPr>
            <a:picLocks noChangeAspect="1" noChangeArrowheads="1"/>
          </p:cNvPicPr>
          <p:nvPr/>
        </p:nvPicPr>
        <p:blipFill rotWithShape="1">
          <a:blip r:embed="rId4">
            <a:extLst>
              <a:ext uri="{28A0092B-C50C-407E-A947-70E740481C1C}">
                <a14:useLocalDpi xmlns:a14="http://schemas.microsoft.com/office/drawing/2010/main" val="0"/>
              </a:ext>
            </a:extLst>
          </a:blip>
          <a:srcRect l="7022" r="10344" b="-367"/>
          <a:stretch/>
        </p:blipFill>
        <p:spPr bwMode="auto">
          <a:xfrm>
            <a:off x="0" y="-1007834"/>
            <a:ext cx="12192000" cy="9259630"/>
          </a:xfrm>
          <a:prstGeom prst="rect">
            <a:avLst/>
          </a:prstGeom>
          <a:noFill/>
          <a:effectLst>
            <a:softEdge rad="635000"/>
          </a:effectLst>
          <a:scene3d>
            <a:camera prst="orthographicFront"/>
            <a:lightRig rig="balanced" dir="t"/>
          </a:scene3d>
          <a:sp3d>
            <a:bevelT w="152400" h="50800" prst="softRound"/>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231942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250" fill="hold"/>
                                        <p:tgtEl>
                                          <p:spTgt spid="2">
                                            <p:txEl>
                                              <p:pRg st="0" end="0"/>
                                            </p:txEl>
                                          </p:spTgt>
                                        </p:tgtEl>
                                        <p:attrNameLst>
                                          <p:attrName>ppt_w</p:attrName>
                                        </p:attrNameLst>
                                      </p:cBhvr>
                                      <p:tavLst>
                                        <p:tav tm="0">
                                          <p:val>
                                            <p:fltVal val="0"/>
                                          </p:val>
                                        </p:tav>
                                        <p:tav tm="100000">
                                          <p:val>
                                            <p:strVal val="#ppt_w"/>
                                          </p:val>
                                        </p:tav>
                                      </p:tavLst>
                                    </p:anim>
                                    <p:anim calcmode="lin" valueType="num">
                                      <p:cBhvr>
                                        <p:cTn id="8" dur="250" fill="hold"/>
                                        <p:tgtEl>
                                          <p:spTgt spid="2">
                                            <p:txEl>
                                              <p:pRg st="0" end="0"/>
                                            </p:txEl>
                                          </p:spTgt>
                                        </p:tgtEl>
                                        <p:attrNameLst>
                                          <p:attrName>ppt_h</p:attrName>
                                        </p:attrNameLst>
                                      </p:cBhvr>
                                      <p:tavLst>
                                        <p:tav tm="0">
                                          <p:val>
                                            <p:fltVal val="0"/>
                                          </p:val>
                                        </p:tav>
                                        <p:tav tm="100000">
                                          <p:val>
                                            <p:strVal val="#ppt_h"/>
                                          </p:val>
                                        </p:tav>
                                      </p:tavLst>
                                    </p:anim>
                                    <p:animEffect transition="in" filter="fade">
                                      <p:cBhvr>
                                        <p:cTn id="9" dur="250"/>
                                        <p:tgtEl>
                                          <p:spTgt spid="2">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 calcmode="lin" valueType="num">
                                      <p:cBhvr>
                                        <p:cTn id="14" dur="250" fill="hold"/>
                                        <p:tgtEl>
                                          <p:spTgt spid="2">
                                            <p:txEl>
                                              <p:pRg st="1" end="1"/>
                                            </p:txEl>
                                          </p:spTgt>
                                        </p:tgtEl>
                                        <p:attrNameLst>
                                          <p:attrName>ppt_w</p:attrName>
                                        </p:attrNameLst>
                                      </p:cBhvr>
                                      <p:tavLst>
                                        <p:tav tm="0">
                                          <p:val>
                                            <p:fltVal val="0"/>
                                          </p:val>
                                        </p:tav>
                                        <p:tav tm="100000">
                                          <p:val>
                                            <p:strVal val="#ppt_w"/>
                                          </p:val>
                                        </p:tav>
                                      </p:tavLst>
                                    </p:anim>
                                    <p:anim calcmode="lin" valueType="num">
                                      <p:cBhvr>
                                        <p:cTn id="15" dur="250" fill="hold"/>
                                        <p:tgtEl>
                                          <p:spTgt spid="2">
                                            <p:txEl>
                                              <p:pRg st="1" end="1"/>
                                            </p:txEl>
                                          </p:spTgt>
                                        </p:tgtEl>
                                        <p:attrNameLst>
                                          <p:attrName>ppt_h</p:attrName>
                                        </p:attrNameLst>
                                      </p:cBhvr>
                                      <p:tavLst>
                                        <p:tav tm="0">
                                          <p:val>
                                            <p:fltVal val="0"/>
                                          </p:val>
                                        </p:tav>
                                        <p:tav tm="100000">
                                          <p:val>
                                            <p:strVal val="#ppt_h"/>
                                          </p:val>
                                        </p:tav>
                                      </p:tavLst>
                                    </p:anim>
                                    <p:animEffect transition="in" filter="fade">
                                      <p:cBhvr>
                                        <p:cTn id="16" dur="250"/>
                                        <p:tgtEl>
                                          <p:spTgt spid="2">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6" presetClass="entr" presetSubtype="0" fill="hold" nodeType="clickEffect">
                                  <p:stCondLst>
                                    <p:cond delay="0"/>
                                  </p:stCondLst>
                                  <p:childTnLst>
                                    <p:set>
                                      <p:cBhvr>
                                        <p:cTn id="20" dur="1" fill="hold">
                                          <p:stCondLst>
                                            <p:cond delay="0"/>
                                          </p:stCondLst>
                                        </p:cTn>
                                        <p:tgtEl>
                                          <p:spTgt spid="8194"/>
                                        </p:tgtEl>
                                        <p:attrNameLst>
                                          <p:attrName>style.visibility</p:attrName>
                                        </p:attrNameLst>
                                      </p:cBhvr>
                                      <p:to>
                                        <p:strVal val="visible"/>
                                      </p:to>
                                    </p:set>
                                    <p:animEffect transition="in" filter="wipe(down)">
                                      <p:cBhvr>
                                        <p:cTn id="21" dur="217">
                                          <p:stCondLst>
                                            <p:cond delay="0"/>
                                          </p:stCondLst>
                                        </p:cTn>
                                        <p:tgtEl>
                                          <p:spTgt spid="8194"/>
                                        </p:tgtEl>
                                      </p:cBhvr>
                                    </p:animEffect>
                                    <p:anim calcmode="lin" valueType="num">
                                      <p:cBhvr>
                                        <p:cTn id="22" dur="683" tmFilter="0,0; 0.14,0.36; 0.43,0.73; 0.71,0.91; 1.0,1.0">
                                          <p:stCondLst>
                                            <p:cond delay="0"/>
                                          </p:stCondLst>
                                        </p:cTn>
                                        <p:tgtEl>
                                          <p:spTgt spid="8194"/>
                                        </p:tgtEl>
                                        <p:attrNameLst>
                                          <p:attrName>ppt_x</p:attrName>
                                        </p:attrNameLst>
                                      </p:cBhvr>
                                      <p:tavLst>
                                        <p:tav tm="0">
                                          <p:val>
                                            <p:strVal val="#ppt_x-0.25"/>
                                          </p:val>
                                        </p:tav>
                                        <p:tav tm="100000">
                                          <p:val>
                                            <p:strVal val="#ppt_x"/>
                                          </p:val>
                                        </p:tav>
                                      </p:tavLst>
                                    </p:anim>
                                    <p:anim calcmode="lin" valueType="num">
                                      <p:cBhvr>
                                        <p:cTn id="23" dur="249" tmFilter="0.0,0.0; 0.25,0.07; 0.50,0.2; 0.75,0.467; 1.0,1.0">
                                          <p:stCondLst>
                                            <p:cond delay="0"/>
                                          </p:stCondLst>
                                        </p:cTn>
                                        <p:tgtEl>
                                          <p:spTgt spid="8194"/>
                                        </p:tgtEl>
                                        <p:attrNameLst>
                                          <p:attrName>ppt_y</p:attrName>
                                        </p:attrNameLst>
                                      </p:cBhvr>
                                      <p:tavLst>
                                        <p:tav tm="0" fmla="#ppt_y-sin(pi*$)/3">
                                          <p:val>
                                            <p:fltVal val="0.5"/>
                                          </p:val>
                                        </p:tav>
                                        <p:tav tm="100000">
                                          <p:val>
                                            <p:fltVal val="1"/>
                                          </p:val>
                                        </p:tav>
                                      </p:tavLst>
                                    </p:anim>
                                    <p:anim calcmode="lin" valueType="num">
                                      <p:cBhvr>
                                        <p:cTn id="24" dur="249" tmFilter="0, 0; 0.125,0.2665; 0.25,0.4; 0.375,0.465; 0.5,0.5;  0.625,0.535; 0.75,0.6; 0.875,0.7335; 1,1">
                                          <p:stCondLst>
                                            <p:cond delay="249"/>
                                          </p:stCondLst>
                                        </p:cTn>
                                        <p:tgtEl>
                                          <p:spTgt spid="8194"/>
                                        </p:tgtEl>
                                        <p:attrNameLst>
                                          <p:attrName>ppt_y</p:attrName>
                                        </p:attrNameLst>
                                      </p:cBhvr>
                                      <p:tavLst>
                                        <p:tav tm="0" fmla="#ppt_y-sin(pi*$)/9">
                                          <p:val>
                                            <p:fltVal val="0"/>
                                          </p:val>
                                        </p:tav>
                                        <p:tav tm="100000">
                                          <p:val>
                                            <p:fltVal val="1"/>
                                          </p:val>
                                        </p:tav>
                                      </p:tavLst>
                                    </p:anim>
                                    <p:anim calcmode="lin" valueType="num">
                                      <p:cBhvr>
                                        <p:cTn id="25" dur="124" tmFilter="0, 0; 0.125,0.2665; 0.25,0.4; 0.375,0.465; 0.5,0.5;  0.625,0.535; 0.75,0.6; 0.875,0.7335; 1,1">
                                          <p:stCondLst>
                                            <p:cond delay="496"/>
                                          </p:stCondLst>
                                        </p:cTn>
                                        <p:tgtEl>
                                          <p:spTgt spid="8194"/>
                                        </p:tgtEl>
                                        <p:attrNameLst>
                                          <p:attrName>ppt_y</p:attrName>
                                        </p:attrNameLst>
                                      </p:cBhvr>
                                      <p:tavLst>
                                        <p:tav tm="0" fmla="#ppt_y-sin(pi*$)/27">
                                          <p:val>
                                            <p:fltVal val="0"/>
                                          </p:val>
                                        </p:tav>
                                        <p:tav tm="100000">
                                          <p:val>
                                            <p:fltVal val="1"/>
                                          </p:val>
                                        </p:tav>
                                      </p:tavLst>
                                    </p:anim>
                                    <p:anim calcmode="lin" valueType="num">
                                      <p:cBhvr>
                                        <p:cTn id="26" dur="62" tmFilter="0, 0; 0.125,0.2665; 0.25,0.4; 0.375,0.465; 0.5,0.5;  0.625,0.535; 0.75,0.6; 0.875,0.7335; 1,1">
                                          <p:stCondLst>
                                            <p:cond delay="621"/>
                                          </p:stCondLst>
                                        </p:cTn>
                                        <p:tgtEl>
                                          <p:spTgt spid="8194"/>
                                        </p:tgtEl>
                                        <p:attrNameLst>
                                          <p:attrName>ppt_y</p:attrName>
                                        </p:attrNameLst>
                                      </p:cBhvr>
                                      <p:tavLst>
                                        <p:tav tm="0" fmla="#ppt_y-sin(pi*$)/81">
                                          <p:val>
                                            <p:fltVal val="0"/>
                                          </p:val>
                                        </p:tav>
                                        <p:tav tm="100000">
                                          <p:val>
                                            <p:fltVal val="1"/>
                                          </p:val>
                                        </p:tav>
                                      </p:tavLst>
                                    </p:anim>
                                    <p:animScale>
                                      <p:cBhvr>
                                        <p:cTn id="27" dur="10">
                                          <p:stCondLst>
                                            <p:cond delay="244"/>
                                          </p:stCondLst>
                                        </p:cTn>
                                        <p:tgtEl>
                                          <p:spTgt spid="8194"/>
                                        </p:tgtEl>
                                      </p:cBhvr>
                                      <p:to x="100000" y="60000"/>
                                    </p:animScale>
                                    <p:animScale>
                                      <p:cBhvr>
                                        <p:cTn id="28" dur="62" decel="50000">
                                          <p:stCondLst>
                                            <p:cond delay="253"/>
                                          </p:stCondLst>
                                        </p:cTn>
                                        <p:tgtEl>
                                          <p:spTgt spid="8194"/>
                                        </p:tgtEl>
                                      </p:cBhvr>
                                      <p:to x="100000" y="100000"/>
                                    </p:animScale>
                                    <p:animScale>
                                      <p:cBhvr>
                                        <p:cTn id="29" dur="10">
                                          <p:stCondLst>
                                            <p:cond delay="492"/>
                                          </p:stCondLst>
                                        </p:cTn>
                                        <p:tgtEl>
                                          <p:spTgt spid="8194"/>
                                        </p:tgtEl>
                                      </p:cBhvr>
                                      <p:to x="100000" y="80000"/>
                                    </p:animScale>
                                    <p:animScale>
                                      <p:cBhvr>
                                        <p:cTn id="30" dur="62" decel="50000">
                                          <p:stCondLst>
                                            <p:cond delay="502"/>
                                          </p:stCondLst>
                                        </p:cTn>
                                        <p:tgtEl>
                                          <p:spTgt spid="8194"/>
                                        </p:tgtEl>
                                      </p:cBhvr>
                                      <p:to x="100000" y="100000"/>
                                    </p:animScale>
                                    <p:animScale>
                                      <p:cBhvr>
                                        <p:cTn id="31" dur="10">
                                          <p:stCondLst>
                                            <p:cond delay="616"/>
                                          </p:stCondLst>
                                        </p:cTn>
                                        <p:tgtEl>
                                          <p:spTgt spid="8194"/>
                                        </p:tgtEl>
                                      </p:cBhvr>
                                      <p:to x="100000" y="90000"/>
                                    </p:animScale>
                                    <p:animScale>
                                      <p:cBhvr>
                                        <p:cTn id="32" dur="62" decel="50000">
                                          <p:stCondLst>
                                            <p:cond delay="626"/>
                                          </p:stCondLst>
                                        </p:cTn>
                                        <p:tgtEl>
                                          <p:spTgt spid="8194"/>
                                        </p:tgtEl>
                                      </p:cBhvr>
                                      <p:to x="100000" y="100000"/>
                                    </p:animScale>
                                    <p:animScale>
                                      <p:cBhvr>
                                        <p:cTn id="33" dur="10">
                                          <p:stCondLst>
                                            <p:cond delay="678"/>
                                          </p:stCondLst>
                                        </p:cTn>
                                        <p:tgtEl>
                                          <p:spTgt spid="8194"/>
                                        </p:tgtEl>
                                      </p:cBhvr>
                                      <p:to x="100000" y="95000"/>
                                    </p:animScale>
                                    <p:animScale>
                                      <p:cBhvr>
                                        <p:cTn id="34" dur="62" decel="50000">
                                          <p:stCondLst>
                                            <p:cond delay="688"/>
                                          </p:stCondLst>
                                        </p:cTn>
                                        <p:tgtEl>
                                          <p:spTgt spid="8194"/>
                                        </p:tgtEl>
                                      </p:cBhvr>
                                      <p:to x="100000" y="100000"/>
                                    </p:animScale>
                                  </p:childTnLst>
                                </p:cTn>
                              </p:par>
                              <p:par>
                                <p:cTn id="35" presetID="26" presetClass="entr" presetSubtype="0" fill="hold" nodeType="withEffect">
                                  <p:stCondLst>
                                    <p:cond delay="0"/>
                                  </p:stCondLst>
                                  <p:childTnLst>
                                    <p:set>
                                      <p:cBhvr>
                                        <p:cTn id="36" dur="1" fill="hold">
                                          <p:stCondLst>
                                            <p:cond delay="0"/>
                                          </p:stCondLst>
                                        </p:cTn>
                                        <p:tgtEl>
                                          <p:spTgt spid="8196"/>
                                        </p:tgtEl>
                                        <p:attrNameLst>
                                          <p:attrName>style.visibility</p:attrName>
                                        </p:attrNameLst>
                                      </p:cBhvr>
                                      <p:to>
                                        <p:strVal val="visible"/>
                                      </p:to>
                                    </p:set>
                                    <p:animEffect transition="in" filter="wipe(down)">
                                      <p:cBhvr>
                                        <p:cTn id="37" dur="217">
                                          <p:stCondLst>
                                            <p:cond delay="0"/>
                                          </p:stCondLst>
                                        </p:cTn>
                                        <p:tgtEl>
                                          <p:spTgt spid="8196"/>
                                        </p:tgtEl>
                                      </p:cBhvr>
                                    </p:animEffect>
                                    <p:anim calcmode="lin" valueType="num">
                                      <p:cBhvr>
                                        <p:cTn id="38" dur="683" tmFilter="0,0; 0.14,0.36; 0.43,0.73; 0.71,0.91; 1.0,1.0">
                                          <p:stCondLst>
                                            <p:cond delay="0"/>
                                          </p:stCondLst>
                                        </p:cTn>
                                        <p:tgtEl>
                                          <p:spTgt spid="8196"/>
                                        </p:tgtEl>
                                        <p:attrNameLst>
                                          <p:attrName>ppt_x</p:attrName>
                                        </p:attrNameLst>
                                      </p:cBhvr>
                                      <p:tavLst>
                                        <p:tav tm="0">
                                          <p:val>
                                            <p:strVal val="#ppt_x-0.25"/>
                                          </p:val>
                                        </p:tav>
                                        <p:tav tm="100000">
                                          <p:val>
                                            <p:strVal val="#ppt_x"/>
                                          </p:val>
                                        </p:tav>
                                      </p:tavLst>
                                    </p:anim>
                                    <p:anim calcmode="lin" valueType="num">
                                      <p:cBhvr>
                                        <p:cTn id="39" dur="249" tmFilter="0.0,0.0; 0.25,0.07; 0.50,0.2; 0.75,0.467; 1.0,1.0">
                                          <p:stCondLst>
                                            <p:cond delay="0"/>
                                          </p:stCondLst>
                                        </p:cTn>
                                        <p:tgtEl>
                                          <p:spTgt spid="8196"/>
                                        </p:tgtEl>
                                        <p:attrNameLst>
                                          <p:attrName>ppt_y</p:attrName>
                                        </p:attrNameLst>
                                      </p:cBhvr>
                                      <p:tavLst>
                                        <p:tav tm="0" fmla="#ppt_y-sin(pi*$)/3">
                                          <p:val>
                                            <p:fltVal val="0.5"/>
                                          </p:val>
                                        </p:tav>
                                        <p:tav tm="100000">
                                          <p:val>
                                            <p:fltVal val="1"/>
                                          </p:val>
                                        </p:tav>
                                      </p:tavLst>
                                    </p:anim>
                                    <p:anim calcmode="lin" valueType="num">
                                      <p:cBhvr>
                                        <p:cTn id="40" dur="249" tmFilter="0, 0; 0.125,0.2665; 0.25,0.4; 0.375,0.465; 0.5,0.5;  0.625,0.535; 0.75,0.6; 0.875,0.7335; 1,1">
                                          <p:stCondLst>
                                            <p:cond delay="249"/>
                                          </p:stCondLst>
                                        </p:cTn>
                                        <p:tgtEl>
                                          <p:spTgt spid="8196"/>
                                        </p:tgtEl>
                                        <p:attrNameLst>
                                          <p:attrName>ppt_y</p:attrName>
                                        </p:attrNameLst>
                                      </p:cBhvr>
                                      <p:tavLst>
                                        <p:tav tm="0" fmla="#ppt_y-sin(pi*$)/9">
                                          <p:val>
                                            <p:fltVal val="0"/>
                                          </p:val>
                                        </p:tav>
                                        <p:tav tm="100000">
                                          <p:val>
                                            <p:fltVal val="1"/>
                                          </p:val>
                                        </p:tav>
                                      </p:tavLst>
                                    </p:anim>
                                    <p:anim calcmode="lin" valueType="num">
                                      <p:cBhvr>
                                        <p:cTn id="41" dur="125" tmFilter="0, 0; 0.125,0.2665; 0.25,0.4; 0.375,0.465; 0.5,0.5;  0.625,0.535; 0.75,0.6; 0.875,0.7335; 1,1">
                                          <p:stCondLst>
                                            <p:cond delay="496"/>
                                          </p:stCondLst>
                                        </p:cTn>
                                        <p:tgtEl>
                                          <p:spTgt spid="8196"/>
                                        </p:tgtEl>
                                        <p:attrNameLst>
                                          <p:attrName>ppt_y</p:attrName>
                                        </p:attrNameLst>
                                      </p:cBhvr>
                                      <p:tavLst>
                                        <p:tav tm="0" fmla="#ppt_y-sin(pi*$)/27">
                                          <p:val>
                                            <p:fltVal val="0"/>
                                          </p:val>
                                        </p:tav>
                                        <p:tav tm="100000">
                                          <p:val>
                                            <p:fltVal val="1"/>
                                          </p:val>
                                        </p:tav>
                                      </p:tavLst>
                                    </p:anim>
                                    <p:anim calcmode="lin" valueType="num">
                                      <p:cBhvr>
                                        <p:cTn id="42" dur="62" tmFilter="0, 0; 0.125,0.2665; 0.25,0.4; 0.375,0.465; 0.5,0.5;  0.625,0.535; 0.75,0.6; 0.875,0.7335; 1,1">
                                          <p:stCondLst>
                                            <p:cond delay="621"/>
                                          </p:stCondLst>
                                        </p:cTn>
                                        <p:tgtEl>
                                          <p:spTgt spid="8196"/>
                                        </p:tgtEl>
                                        <p:attrNameLst>
                                          <p:attrName>ppt_y</p:attrName>
                                        </p:attrNameLst>
                                      </p:cBhvr>
                                      <p:tavLst>
                                        <p:tav tm="0" fmla="#ppt_y-sin(pi*$)/81">
                                          <p:val>
                                            <p:fltVal val="0"/>
                                          </p:val>
                                        </p:tav>
                                        <p:tav tm="100000">
                                          <p:val>
                                            <p:fltVal val="1"/>
                                          </p:val>
                                        </p:tav>
                                      </p:tavLst>
                                    </p:anim>
                                    <p:animScale>
                                      <p:cBhvr>
                                        <p:cTn id="43" dur="10">
                                          <p:stCondLst>
                                            <p:cond delay="244"/>
                                          </p:stCondLst>
                                        </p:cTn>
                                        <p:tgtEl>
                                          <p:spTgt spid="8196"/>
                                        </p:tgtEl>
                                      </p:cBhvr>
                                      <p:to x="100000" y="60000"/>
                                    </p:animScale>
                                    <p:animScale>
                                      <p:cBhvr>
                                        <p:cTn id="44" dur="62" decel="50000">
                                          <p:stCondLst>
                                            <p:cond delay="253"/>
                                          </p:stCondLst>
                                        </p:cTn>
                                        <p:tgtEl>
                                          <p:spTgt spid="8196"/>
                                        </p:tgtEl>
                                      </p:cBhvr>
                                      <p:to x="100000" y="100000"/>
                                    </p:animScale>
                                    <p:animScale>
                                      <p:cBhvr>
                                        <p:cTn id="45" dur="10">
                                          <p:stCondLst>
                                            <p:cond delay="492"/>
                                          </p:stCondLst>
                                        </p:cTn>
                                        <p:tgtEl>
                                          <p:spTgt spid="8196"/>
                                        </p:tgtEl>
                                      </p:cBhvr>
                                      <p:to x="100000" y="80000"/>
                                    </p:animScale>
                                    <p:animScale>
                                      <p:cBhvr>
                                        <p:cTn id="46" dur="62" decel="50000">
                                          <p:stCondLst>
                                            <p:cond delay="502"/>
                                          </p:stCondLst>
                                        </p:cTn>
                                        <p:tgtEl>
                                          <p:spTgt spid="8196"/>
                                        </p:tgtEl>
                                      </p:cBhvr>
                                      <p:to x="100000" y="100000"/>
                                    </p:animScale>
                                    <p:animScale>
                                      <p:cBhvr>
                                        <p:cTn id="47" dur="10">
                                          <p:stCondLst>
                                            <p:cond delay="616"/>
                                          </p:stCondLst>
                                        </p:cTn>
                                        <p:tgtEl>
                                          <p:spTgt spid="8196"/>
                                        </p:tgtEl>
                                      </p:cBhvr>
                                      <p:to x="100000" y="90000"/>
                                    </p:animScale>
                                    <p:animScale>
                                      <p:cBhvr>
                                        <p:cTn id="48" dur="62" decel="50000">
                                          <p:stCondLst>
                                            <p:cond delay="626"/>
                                          </p:stCondLst>
                                        </p:cTn>
                                        <p:tgtEl>
                                          <p:spTgt spid="8196"/>
                                        </p:tgtEl>
                                      </p:cBhvr>
                                      <p:to x="100000" y="100000"/>
                                    </p:animScale>
                                    <p:animScale>
                                      <p:cBhvr>
                                        <p:cTn id="49" dur="10">
                                          <p:stCondLst>
                                            <p:cond delay="678"/>
                                          </p:stCondLst>
                                        </p:cTn>
                                        <p:tgtEl>
                                          <p:spTgt spid="8196"/>
                                        </p:tgtEl>
                                      </p:cBhvr>
                                      <p:to x="100000" y="95000"/>
                                    </p:animScale>
                                    <p:animScale>
                                      <p:cBhvr>
                                        <p:cTn id="50" dur="62" decel="50000">
                                          <p:stCondLst>
                                            <p:cond delay="688"/>
                                          </p:stCondLst>
                                        </p:cTn>
                                        <p:tgtEl>
                                          <p:spTgt spid="8196"/>
                                        </p:tgtEl>
                                      </p:cBhvr>
                                      <p:to x="100000" y="100000"/>
                                    </p:animScale>
                                  </p:childTnLst>
                                </p:cTn>
                              </p:par>
                            </p:childTnLst>
                          </p:cTn>
                        </p:par>
                      </p:childTnLst>
                    </p:cTn>
                  </p:par>
                  <p:par>
                    <p:cTn id="51" fill="hold">
                      <p:stCondLst>
                        <p:cond delay="indefinite"/>
                      </p:stCondLst>
                      <p:childTnLst>
                        <p:par>
                          <p:cTn id="52" fill="hold">
                            <p:stCondLst>
                              <p:cond delay="0"/>
                            </p:stCondLst>
                            <p:childTnLst>
                              <p:par>
                                <p:cTn id="53" presetID="6" presetClass="entr" presetSubtype="16"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circle(in)">
                                      <p:cBhvr>
                                        <p:cTn id="55" dur="750"/>
                                        <p:tgtEl>
                                          <p:spTgt spid="8"/>
                                        </p:tgtEl>
                                      </p:cBhvr>
                                    </p:animEffect>
                                  </p:childTnLst>
                                </p:cTn>
                              </p:par>
                              <p:par>
                                <p:cTn id="56" presetID="6" presetClass="entr" presetSubtype="16" fill="hold" grpId="0" nodeType="withEffect">
                                  <p:stCondLst>
                                    <p:cond delay="0"/>
                                  </p:stCondLst>
                                  <p:childTnLst>
                                    <p:set>
                                      <p:cBhvr>
                                        <p:cTn id="57" dur="1" fill="hold">
                                          <p:stCondLst>
                                            <p:cond delay="0"/>
                                          </p:stCondLst>
                                        </p:cTn>
                                        <p:tgtEl>
                                          <p:spTgt spid="4"/>
                                        </p:tgtEl>
                                        <p:attrNameLst>
                                          <p:attrName>style.visibility</p:attrName>
                                        </p:attrNameLst>
                                      </p:cBhvr>
                                      <p:to>
                                        <p:strVal val="visible"/>
                                      </p:to>
                                    </p:set>
                                    <p:animEffect transition="in" filter="circle(in)">
                                      <p:cBhvr>
                                        <p:cTn id="58" dur="750"/>
                                        <p:tgtEl>
                                          <p:spTgt spid="4"/>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grpId="0" nodeType="clickEffect">
                                  <p:stCondLst>
                                    <p:cond delay="0"/>
                                  </p:stCondLst>
                                  <p:childTnLst>
                                    <p:set>
                                      <p:cBhvr>
                                        <p:cTn id="62" dur="1" fill="hold">
                                          <p:stCondLst>
                                            <p:cond delay="0"/>
                                          </p:stCondLst>
                                        </p:cTn>
                                        <p:tgtEl>
                                          <p:spTgt spid="5"/>
                                        </p:tgtEl>
                                        <p:attrNameLst>
                                          <p:attrName>style.visibility</p:attrName>
                                        </p:attrNameLst>
                                      </p:cBhvr>
                                      <p:to>
                                        <p:strVal val="visible"/>
                                      </p:to>
                                    </p:set>
                                    <p:anim calcmode="lin" valueType="num">
                                      <p:cBhvr>
                                        <p:cTn id="63" dur="500" fill="hold"/>
                                        <p:tgtEl>
                                          <p:spTgt spid="5"/>
                                        </p:tgtEl>
                                        <p:attrNameLst>
                                          <p:attrName>ppt_w</p:attrName>
                                        </p:attrNameLst>
                                      </p:cBhvr>
                                      <p:tavLst>
                                        <p:tav tm="0">
                                          <p:val>
                                            <p:fltVal val="0"/>
                                          </p:val>
                                        </p:tav>
                                        <p:tav tm="100000">
                                          <p:val>
                                            <p:strVal val="#ppt_w"/>
                                          </p:val>
                                        </p:tav>
                                      </p:tavLst>
                                    </p:anim>
                                    <p:anim calcmode="lin" valueType="num">
                                      <p:cBhvr>
                                        <p:cTn id="64" dur="500" fill="hold"/>
                                        <p:tgtEl>
                                          <p:spTgt spid="5"/>
                                        </p:tgtEl>
                                        <p:attrNameLst>
                                          <p:attrName>ppt_h</p:attrName>
                                        </p:attrNameLst>
                                      </p:cBhvr>
                                      <p:tavLst>
                                        <p:tav tm="0">
                                          <p:val>
                                            <p:fltVal val="0"/>
                                          </p:val>
                                        </p:tav>
                                        <p:tav tm="100000">
                                          <p:val>
                                            <p:strVal val="#ppt_h"/>
                                          </p:val>
                                        </p:tav>
                                      </p:tavLst>
                                    </p:anim>
                                    <p:animEffect transition="in" filter="fade">
                                      <p:cBhvr>
                                        <p:cTn id="65" dur="500"/>
                                        <p:tgtEl>
                                          <p:spTgt spid="5"/>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nodeType="clickEffect">
                                  <p:stCondLst>
                                    <p:cond delay="0"/>
                                  </p:stCondLst>
                                  <p:childTnLst>
                                    <p:set>
                                      <p:cBhvr>
                                        <p:cTn id="69" dur="1" fill="hold">
                                          <p:stCondLst>
                                            <p:cond delay="0"/>
                                          </p:stCondLst>
                                        </p:cTn>
                                        <p:tgtEl>
                                          <p:spTgt spid="8198"/>
                                        </p:tgtEl>
                                        <p:attrNameLst>
                                          <p:attrName>style.visibility</p:attrName>
                                        </p:attrNameLst>
                                      </p:cBhvr>
                                      <p:to>
                                        <p:strVal val="visible"/>
                                      </p:to>
                                    </p:set>
                                    <p:animEffect transition="in" filter="wipe(down)">
                                      <p:cBhvr>
                                        <p:cTn id="70" dur="500"/>
                                        <p:tgtEl>
                                          <p:spTgt spid="8198"/>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xit" presetSubtype="0" fill="hold" nodeType="clickEffect">
                                  <p:stCondLst>
                                    <p:cond delay="0"/>
                                  </p:stCondLst>
                                  <p:childTnLst>
                                    <p:animEffect transition="out" filter="fade">
                                      <p:cBhvr>
                                        <p:cTn id="74" dur="500"/>
                                        <p:tgtEl>
                                          <p:spTgt spid="8198"/>
                                        </p:tgtEl>
                                      </p:cBhvr>
                                    </p:animEffect>
                                    <p:set>
                                      <p:cBhvr>
                                        <p:cTn id="75" dur="1" fill="hold">
                                          <p:stCondLst>
                                            <p:cond delay="499"/>
                                          </p:stCondLst>
                                        </p:cTn>
                                        <p:tgtEl>
                                          <p:spTgt spid="8198"/>
                                        </p:tgtEl>
                                        <p:attrNameLst>
                                          <p:attrName>style.visibility</p:attrName>
                                        </p:attrNameLst>
                                      </p:cBhvr>
                                      <p:to>
                                        <p:strVal val="hidden"/>
                                      </p:to>
                                    </p:set>
                                  </p:childTnLst>
                                </p:cTn>
                              </p:par>
                            </p:childTnLst>
                          </p:cTn>
                        </p:par>
                      </p:childTnLst>
                    </p:cTn>
                  </p:par>
                  <p:par>
                    <p:cTn id="76" fill="hold">
                      <p:stCondLst>
                        <p:cond delay="indefinite"/>
                      </p:stCondLst>
                      <p:childTnLst>
                        <p:par>
                          <p:cTn id="77" fill="hold">
                            <p:stCondLst>
                              <p:cond delay="0"/>
                            </p:stCondLst>
                            <p:childTnLst>
                              <p:par>
                                <p:cTn id="78" presetID="10" presetClass="exit" presetSubtype="0" fill="hold" grpId="1" nodeType="clickEffect">
                                  <p:stCondLst>
                                    <p:cond delay="0"/>
                                  </p:stCondLst>
                                  <p:childTnLst>
                                    <p:animEffect transition="out" filter="fade">
                                      <p:cBhvr>
                                        <p:cTn id="79" dur="500"/>
                                        <p:tgtEl>
                                          <p:spTgt spid="5"/>
                                        </p:tgtEl>
                                      </p:cBhvr>
                                    </p:animEffect>
                                    <p:set>
                                      <p:cBhvr>
                                        <p:cTn id="80"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animBg="1"/>
      <p:bldP spid="5" grpId="0"/>
      <p:bldP spid="5" grpId="1"/>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NÔ LỆ VÀ SỰ DÃ MAN, TÀN KHỐC CỦA CHẾ ĐỘ NÔ LỆ"/>
          <p:cNvPicPr>
            <a:picLocks noChangeAspect="1" noChangeArrowheads="1"/>
          </p:cNvPicPr>
          <p:nvPr/>
        </p:nvPicPr>
        <p:blipFill rotWithShape="1">
          <a:blip r:embed="rId2">
            <a:extLst>
              <a:ext uri="{28A0092B-C50C-407E-A947-70E740481C1C}">
                <a14:useLocalDpi xmlns:a14="http://schemas.microsoft.com/office/drawing/2010/main" val="0"/>
              </a:ext>
            </a:extLst>
          </a:blip>
          <a:srcRect r="2699" b="13550"/>
          <a:stretch/>
        </p:blipFill>
        <p:spPr bwMode="auto">
          <a:xfrm>
            <a:off x="1503785" y="2553553"/>
            <a:ext cx="3872345" cy="2136856"/>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Hãy cảnh giác khi sếp vỗ vai bạn và nói: “Cứ đam mê làm việc đi, rồi tiền  bạc, danh vọng sẽ tự đến” đấy thực chất chỉ là một chiêu bó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4699" y="2612416"/>
            <a:ext cx="3509851" cy="2136856"/>
          </a:xfrm>
          <a:prstGeom prst="rect">
            <a:avLst/>
          </a:prstGeom>
          <a:noFill/>
          <a:extLst>
            <a:ext uri="{909E8E84-426E-40DD-AFC4-6F175D3DCCD1}">
              <a14:hiddenFill xmlns:a14="http://schemas.microsoft.com/office/drawing/2010/main">
                <a:solidFill>
                  <a:srgbClr val="FFFFFF"/>
                </a:solidFill>
              </a14:hiddenFill>
            </a:ext>
          </a:extLst>
        </p:spPr>
      </p:pic>
      <p:sp>
        <p:nvSpPr>
          <p:cNvPr id="4" name="Multiply 3"/>
          <p:cNvSpPr/>
          <p:nvPr/>
        </p:nvSpPr>
        <p:spPr>
          <a:xfrm>
            <a:off x="1268257" y="1719498"/>
            <a:ext cx="4343400" cy="3922692"/>
          </a:xfrm>
          <a:prstGeom prst="mathMultiply">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b="1">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8" name="Multiply 7"/>
          <p:cNvSpPr/>
          <p:nvPr/>
        </p:nvSpPr>
        <p:spPr>
          <a:xfrm>
            <a:off x="6067924" y="1660635"/>
            <a:ext cx="4343400" cy="3922692"/>
          </a:xfrm>
          <a:prstGeom prst="mathMultiply">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b="1">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pic>
        <p:nvPicPr>
          <p:cNvPr id="7" name="Picture 6">
            <a:extLst>
              <a:ext uri="{FF2B5EF4-FFF2-40B4-BE49-F238E27FC236}">
                <a16:creationId xmlns:a16="http://schemas.microsoft.com/office/drawing/2014/main" id="{8C8EE549-E5B2-4D1D-9AC8-AA42CD12226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77399" y="1242395"/>
            <a:ext cx="5253748" cy="3506877"/>
          </a:xfrm>
          <a:prstGeom prst="rect">
            <a:avLst/>
          </a:prstGeom>
        </p:spPr>
      </p:pic>
      <p:sp>
        <p:nvSpPr>
          <p:cNvPr id="18" name="Arrow: Up 17">
            <a:extLst>
              <a:ext uri="{FF2B5EF4-FFF2-40B4-BE49-F238E27FC236}">
                <a16:creationId xmlns:a16="http://schemas.microsoft.com/office/drawing/2014/main" id="{5D686386-C79A-44C6-AD2D-9487C77A2DD7}"/>
              </a:ext>
            </a:extLst>
          </p:cNvPr>
          <p:cNvSpPr/>
          <p:nvPr/>
        </p:nvSpPr>
        <p:spPr>
          <a:xfrm>
            <a:off x="11097747" y="762000"/>
            <a:ext cx="891309" cy="4044422"/>
          </a:xfrm>
          <a:prstGeom prst="up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vi-VN"/>
          </a:p>
        </p:txBody>
      </p:sp>
      <p:pic>
        <p:nvPicPr>
          <p:cNvPr id="10" name="Picture 9">
            <a:extLst>
              <a:ext uri="{FF2B5EF4-FFF2-40B4-BE49-F238E27FC236}">
                <a16:creationId xmlns:a16="http://schemas.microsoft.com/office/drawing/2014/main" id="{F5DE9ED7-BA74-484D-88DF-4D1DD771DEF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9958" y="2228621"/>
            <a:ext cx="4418028" cy="3354706"/>
          </a:xfrm>
          <a:prstGeom prst="rect">
            <a:avLst/>
          </a:prstGeom>
        </p:spPr>
      </p:pic>
      <p:pic>
        <p:nvPicPr>
          <p:cNvPr id="12" name="Picture 11">
            <a:extLst>
              <a:ext uri="{FF2B5EF4-FFF2-40B4-BE49-F238E27FC236}">
                <a16:creationId xmlns:a16="http://schemas.microsoft.com/office/drawing/2014/main" id="{585F95AD-EE5C-4073-9179-C747DAA8F70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199388" y="3755969"/>
            <a:ext cx="4343401" cy="2895600"/>
          </a:xfrm>
          <a:prstGeom prst="rect">
            <a:avLst/>
          </a:prstGeom>
        </p:spPr>
      </p:pic>
      <p:sp>
        <p:nvSpPr>
          <p:cNvPr id="13" name="TextBox 12">
            <a:extLst>
              <a:ext uri="{FF2B5EF4-FFF2-40B4-BE49-F238E27FC236}">
                <a16:creationId xmlns:a16="http://schemas.microsoft.com/office/drawing/2014/main" id="{E2335DBC-C913-4397-A525-32197A38693D}"/>
              </a:ext>
            </a:extLst>
          </p:cNvPr>
          <p:cNvSpPr txBox="1"/>
          <p:nvPr/>
        </p:nvSpPr>
        <p:spPr>
          <a:xfrm>
            <a:off x="2930818" y="5661671"/>
            <a:ext cx="2326278" cy="400110"/>
          </a:xfrm>
          <a:prstGeom prst="rect">
            <a:avLst/>
          </a:prstGeom>
          <a:noFill/>
        </p:spPr>
        <p:txBody>
          <a:bodyPr wrap="none" rtlCol="0">
            <a:spAutoFit/>
          </a:bodyPr>
          <a:lstStyle/>
          <a:p>
            <a:r>
              <a:rPr lang="en-US" sz="2000"/>
              <a:t>*hình ảnh minh họa</a:t>
            </a:r>
            <a:endParaRPr lang="vi-VN" sz="2000"/>
          </a:p>
        </p:txBody>
      </p:sp>
      <p:sp>
        <p:nvSpPr>
          <p:cNvPr id="14" name="Arrow: Up 13">
            <a:extLst>
              <a:ext uri="{FF2B5EF4-FFF2-40B4-BE49-F238E27FC236}">
                <a16:creationId xmlns:a16="http://schemas.microsoft.com/office/drawing/2014/main" id="{D2F18B36-C0FD-4E55-97F4-F936638EF098}"/>
              </a:ext>
            </a:extLst>
          </p:cNvPr>
          <p:cNvSpPr/>
          <p:nvPr/>
        </p:nvSpPr>
        <p:spPr>
          <a:xfrm>
            <a:off x="4042943" y="1794623"/>
            <a:ext cx="900571" cy="3922692"/>
          </a:xfrm>
          <a:prstGeom prst="up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vi-VN"/>
          </a:p>
        </p:txBody>
      </p:sp>
      <p:sp>
        <p:nvSpPr>
          <p:cNvPr id="19" name="Arrow: Up 18">
            <a:extLst>
              <a:ext uri="{FF2B5EF4-FFF2-40B4-BE49-F238E27FC236}">
                <a16:creationId xmlns:a16="http://schemas.microsoft.com/office/drawing/2014/main" id="{4BCA97A5-B0AE-42E5-9120-EA5B44E2A620}"/>
              </a:ext>
            </a:extLst>
          </p:cNvPr>
          <p:cNvSpPr/>
          <p:nvPr/>
        </p:nvSpPr>
        <p:spPr>
          <a:xfrm>
            <a:off x="9056359" y="3718500"/>
            <a:ext cx="795905" cy="2987100"/>
          </a:xfrm>
          <a:prstGeom prst="up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vi-VN"/>
          </a:p>
        </p:txBody>
      </p:sp>
      <p:sp>
        <p:nvSpPr>
          <p:cNvPr id="3" name="Rectangle 2">
            <a:extLst>
              <a:ext uri="{FF2B5EF4-FFF2-40B4-BE49-F238E27FC236}">
                <a16:creationId xmlns:a16="http://schemas.microsoft.com/office/drawing/2014/main" id="{0FEE47F8-CCFC-4FB2-B405-28D63D7FE55C}"/>
              </a:ext>
            </a:extLst>
          </p:cNvPr>
          <p:cNvSpPr/>
          <p:nvPr/>
        </p:nvSpPr>
        <p:spPr>
          <a:xfrm>
            <a:off x="0" y="211393"/>
            <a:ext cx="12192000" cy="1508105"/>
          </a:xfrm>
          <a:prstGeom prst="rect">
            <a:avLst/>
          </a:prstGeom>
        </p:spPr>
        <p:txBody>
          <a:bodyPr wrap="square">
            <a:spAutoFit/>
          </a:bodyPr>
          <a:lstStyle/>
          <a:p>
            <a:pPr algn="just"/>
            <a:r>
              <a:rPr lang="en-US" sz="3600" spc="300">
                <a:effectLst>
                  <a:outerShdw blurRad="38100" dist="38100" dir="2700000" algn="tl">
                    <a:srgbClr val="000000">
                      <a:alpha val="43137"/>
                    </a:srgbClr>
                  </a:outerShdw>
                </a:effectLst>
              </a:rPr>
              <a:t>	</a:t>
            </a:r>
            <a:r>
              <a:rPr lang="en-US" sz="3600" spc="300">
                <a:solidFill>
                  <a:schemeClr val="accent1">
                    <a:lumMod val="50000"/>
                  </a:schemeClr>
                </a:solidFill>
                <a:effectLst>
                  <a:outerShdw blurRad="38100" dist="38100" dir="2700000" algn="tl">
                    <a:srgbClr val="000000">
                      <a:alpha val="43137"/>
                    </a:srgbClr>
                  </a:outerShdw>
                </a:effectLst>
              </a:rPr>
              <a:t>Công nghiệp (Kinh tế - xã hội)</a:t>
            </a:r>
          </a:p>
          <a:p>
            <a:pPr algn="just"/>
            <a:r>
              <a:rPr lang="en-US" sz="2800">
                <a:effectLst>
                  <a:outerShdw blurRad="38100" dist="38100" dir="2700000" algn="tl">
                    <a:srgbClr val="000000">
                      <a:alpha val="43137"/>
                    </a:srgbClr>
                  </a:outerShdw>
                </a:effectLst>
              </a:rPr>
              <a:t>Khuyến khích công nhân bỏ vốn kinh doanh, xây dựng các nhà máy, mở hiệu buôn và ngân hàng.</a:t>
            </a:r>
          </a:p>
        </p:txBody>
      </p:sp>
    </p:spTree>
    <p:extLst>
      <p:ext uri="{BB962C8B-B14F-4D97-AF65-F5344CB8AC3E}">
        <p14:creationId xmlns:p14="http://schemas.microsoft.com/office/powerpoint/2010/main" val="97025542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52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25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25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250"/>
                                        <p:tgtEl>
                                          <p:spTgt spid="3">
                                            <p:txEl>
                                              <p:pRg st="0" end="0"/>
                                            </p:txEl>
                                          </p:spTgt>
                                        </p:tgtEl>
                                      </p:cBhvr>
                                    </p:animEffect>
                                    <p:anim calcmode="lin" valueType="num">
                                      <p:cBhvr>
                                        <p:cTn id="10" dur="250" fill="hold"/>
                                        <p:tgtEl>
                                          <p:spTgt spid="3">
                                            <p:txEl>
                                              <p:pRg st="0" end="0"/>
                                            </p:txEl>
                                          </p:spTgt>
                                        </p:tgtEl>
                                        <p:attrNameLst>
                                          <p:attrName>ppt_x</p:attrName>
                                        </p:attrNameLst>
                                      </p:cBhvr>
                                      <p:tavLst>
                                        <p:tav tm="0">
                                          <p:val>
                                            <p:fltVal val="0.5"/>
                                          </p:val>
                                        </p:tav>
                                        <p:tav tm="100000">
                                          <p:val>
                                            <p:strVal val="#ppt_x"/>
                                          </p:val>
                                        </p:tav>
                                      </p:tavLst>
                                    </p:anim>
                                    <p:anim calcmode="lin" valueType="num">
                                      <p:cBhvr>
                                        <p:cTn id="11" dur="250" fill="hold"/>
                                        <p:tgtEl>
                                          <p:spTgt spid="3">
                                            <p:txEl>
                                              <p:pRg st="0" end="0"/>
                                            </p:txEl>
                                          </p:spTgt>
                                        </p:tgtEl>
                                        <p:attrNameLst>
                                          <p:attrName>ppt_y</p:attrName>
                                        </p:attrNameLst>
                                      </p:cBhvr>
                                      <p:tavLst>
                                        <p:tav tm="0">
                                          <p:val>
                                            <p:fltVal val="0.5"/>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53" presetClass="entr" presetSubtype="528"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 calcmode="lin" valueType="num">
                                      <p:cBhvr>
                                        <p:cTn id="16" dur="250" fill="hold"/>
                                        <p:tgtEl>
                                          <p:spTgt spid="3">
                                            <p:txEl>
                                              <p:pRg st="1" end="1"/>
                                            </p:txEl>
                                          </p:spTgt>
                                        </p:tgtEl>
                                        <p:attrNameLst>
                                          <p:attrName>ppt_w</p:attrName>
                                        </p:attrNameLst>
                                      </p:cBhvr>
                                      <p:tavLst>
                                        <p:tav tm="0">
                                          <p:val>
                                            <p:fltVal val="0"/>
                                          </p:val>
                                        </p:tav>
                                        <p:tav tm="100000">
                                          <p:val>
                                            <p:strVal val="#ppt_w"/>
                                          </p:val>
                                        </p:tav>
                                      </p:tavLst>
                                    </p:anim>
                                    <p:anim calcmode="lin" valueType="num">
                                      <p:cBhvr>
                                        <p:cTn id="17" dur="25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8" dur="250"/>
                                        <p:tgtEl>
                                          <p:spTgt spid="3">
                                            <p:txEl>
                                              <p:pRg st="1" end="1"/>
                                            </p:txEl>
                                          </p:spTgt>
                                        </p:tgtEl>
                                      </p:cBhvr>
                                    </p:animEffect>
                                    <p:anim calcmode="lin" valueType="num">
                                      <p:cBhvr>
                                        <p:cTn id="19" dur="250" fill="hold"/>
                                        <p:tgtEl>
                                          <p:spTgt spid="3">
                                            <p:txEl>
                                              <p:pRg st="1" end="1"/>
                                            </p:txEl>
                                          </p:spTgt>
                                        </p:tgtEl>
                                        <p:attrNameLst>
                                          <p:attrName>ppt_x</p:attrName>
                                        </p:attrNameLst>
                                      </p:cBhvr>
                                      <p:tavLst>
                                        <p:tav tm="0">
                                          <p:val>
                                            <p:fltVal val="0.5"/>
                                          </p:val>
                                        </p:tav>
                                        <p:tav tm="100000">
                                          <p:val>
                                            <p:strVal val="#ppt_x"/>
                                          </p:val>
                                        </p:tav>
                                      </p:tavLst>
                                    </p:anim>
                                    <p:anim calcmode="lin" valueType="num">
                                      <p:cBhvr>
                                        <p:cTn id="20" dur="250" fill="hold"/>
                                        <p:tgtEl>
                                          <p:spTgt spid="3">
                                            <p:txEl>
                                              <p:pRg st="1" end="1"/>
                                            </p:txEl>
                                          </p:spTgt>
                                        </p:tgtEl>
                                        <p:attrNameLst>
                                          <p:attrName>ppt_y</p:attrName>
                                        </p:attrNameLst>
                                      </p:cBhvr>
                                      <p:tavLst>
                                        <p:tav tm="0">
                                          <p:val>
                                            <p:fltVal val="0.5"/>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xit" presetSubtype="0" fill="hold" grpId="1" nodeType="clickEffect">
                                  <p:stCondLst>
                                    <p:cond delay="0"/>
                                  </p:stCondLst>
                                  <p:childTnLst>
                                    <p:animEffect transition="out" filter="fade">
                                      <p:cBhvr>
                                        <p:cTn id="24" dur="250"/>
                                        <p:tgtEl>
                                          <p:spTgt spid="4"/>
                                        </p:tgtEl>
                                      </p:cBhvr>
                                    </p:animEffect>
                                    <p:set>
                                      <p:cBhvr>
                                        <p:cTn id="25" dur="1" fill="hold">
                                          <p:stCondLst>
                                            <p:cond delay="249"/>
                                          </p:stCondLst>
                                        </p:cTn>
                                        <p:tgtEl>
                                          <p:spTgt spid="4"/>
                                        </p:tgtEl>
                                        <p:attrNameLst>
                                          <p:attrName>style.visibility</p:attrName>
                                        </p:attrNameLst>
                                      </p:cBhvr>
                                      <p:to>
                                        <p:strVal val="hidden"/>
                                      </p:to>
                                    </p:set>
                                  </p:childTnLst>
                                </p:cTn>
                              </p:par>
                              <p:par>
                                <p:cTn id="26" presetID="10" presetClass="exit" presetSubtype="0" fill="hold" grpId="1" nodeType="withEffect">
                                  <p:stCondLst>
                                    <p:cond delay="0"/>
                                  </p:stCondLst>
                                  <p:childTnLst>
                                    <p:animEffect transition="out" filter="fade">
                                      <p:cBhvr>
                                        <p:cTn id="27" dur="250"/>
                                        <p:tgtEl>
                                          <p:spTgt spid="8"/>
                                        </p:tgtEl>
                                      </p:cBhvr>
                                    </p:animEffect>
                                    <p:set>
                                      <p:cBhvr>
                                        <p:cTn id="28" dur="1" fill="hold">
                                          <p:stCondLst>
                                            <p:cond delay="249"/>
                                          </p:stCondLst>
                                        </p:cTn>
                                        <p:tgtEl>
                                          <p:spTgt spid="8"/>
                                        </p:tgtEl>
                                        <p:attrNameLst>
                                          <p:attrName>style.visibility</p:attrName>
                                        </p:attrNameLst>
                                      </p:cBhvr>
                                      <p:to>
                                        <p:strVal val="hidden"/>
                                      </p:to>
                                    </p:set>
                                  </p:childTnLst>
                                </p:cTn>
                              </p:par>
                            </p:childTnLst>
                          </p:cTn>
                        </p:par>
                        <p:par>
                          <p:cTn id="29" fill="hold">
                            <p:stCondLst>
                              <p:cond delay="250"/>
                            </p:stCondLst>
                            <p:childTnLst>
                              <p:par>
                                <p:cTn id="30" presetID="10" presetClass="exit" presetSubtype="0" fill="hold" nodeType="afterEffect">
                                  <p:stCondLst>
                                    <p:cond delay="0"/>
                                  </p:stCondLst>
                                  <p:childTnLst>
                                    <p:animEffect transition="out" filter="fade">
                                      <p:cBhvr>
                                        <p:cTn id="31" dur="250"/>
                                        <p:tgtEl>
                                          <p:spTgt spid="8194"/>
                                        </p:tgtEl>
                                      </p:cBhvr>
                                    </p:animEffect>
                                    <p:set>
                                      <p:cBhvr>
                                        <p:cTn id="32" dur="1" fill="hold">
                                          <p:stCondLst>
                                            <p:cond delay="249"/>
                                          </p:stCondLst>
                                        </p:cTn>
                                        <p:tgtEl>
                                          <p:spTgt spid="8194"/>
                                        </p:tgtEl>
                                        <p:attrNameLst>
                                          <p:attrName>style.visibility</p:attrName>
                                        </p:attrNameLst>
                                      </p:cBhvr>
                                      <p:to>
                                        <p:strVal val="hidden"/>
                                      </p:to>
                                    </p:set>
                                  </p:childTnLst>
                                </p:cTn>
                              </p:par>
                              <p:par>
                                <p:cTn id="33" presetID="10" presetClass="exit" presetSubtype="0" fill="hold" nodeType="withEffect">
                                  <p:stCondLst>
                                    <p:cond delay="0"/>
                                  </p:stCondLst>
                                  <p:childTnLst>
                                    <p:animEffect transition="out" filter="fade">
                                      <p:cBhvr>
                                        <p:cTn id="34" dur="250"/>
                                        <p:tgtEl>
                                          <p:spTgt spid="8196"/>
                                        </p:tgtEl>
                                      </p:cBhvr>
                                    </p:animEffect>
                                    <p:set>
                                      <p:cBhvr>
                                        <p:cTn id="35" dur="1" fill="hold">
                                          <p:stCondLst>
                                            <p:cond delay="249"/>
                                          </p:stCondLst>
                                        </p:cTn>
                                        <p:tgtEl>
                                          <p:spTgt spid="8196"/>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250" fill="hold"/>
                                        <p:tgtEl>
                                          <p:spTgt spid="10"/>
                                        </p:tgtEl>
                                        <p:attrNameLst>
                                          <p:attrName>ppt_x</p:attrName>
                                        </p:attrNameLst>
                                      </p:cBhvr>
                                      <p:tavLst>
                                        <p:tav tm="0">
                                          <p:val>
                                            <p:strVal val="#ppt_x"/>
                                          </p:val>
                                        </p:tav>
                                        <p:tav tm="100000">
                                          <p:val>
                                            <p:strVal val="#ppt_x"/>
                                          </p:val>
                                        </p:tav>
                                      </p:tavLst>
                                    </p:anim>
                                    <p:anim calcmode="lin" valueType="num">
                                      <p:cBhvr additive="base">
                                        <p:cTn id="41" dur="25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53" presetClass="entr" presetSubtype="16" fill="hold" nodeType="clickEffect">
                                  <p:stCondLst>
                                    <p:cond delay="0"/>
                                  </p:stCondLst>
                                  <p:childTnLst>
                                    <p:set>
                                      <p:cBhvr>
                                        <p:cTn id="45" dur="1" fill="hold">
                                          <p:stCondLst>
                                            <p:cond delay="0"/>
                                          </p:stCondLst>
                                        </p:cTn>
                                        <p:tgtEl>
                                          <p:spTgt spid="12"/>
                                        </p:tgtEl>
                                        <p:attrNameLst>
                                          <p:attrName>style.visibility</p:attrName>
                                        </p:attrNameLst>
                                      </p:cBhvr>
                                      <p:to>
                                        <p:strVal val="visible"/>
                                      </p:to>
                                    </p:set>
                                    <p:anim calcmode="lin" valueType="num">
                                      <p:cBhvr>
                                        <p:cTn id="46" dur="250" fill="hold"/>
                                        <p:tgtEl>
                                          <p:spTgt spid="12"/>
                                        </p:tgtEl>
                                        <p:attrNameLst>
                                          <p:attrName>ppt_w</p:attrName>
                                        </p:attrNameLst>
                                      </p:cBhvr>
                                      <p:tavLst>
                                        <p:tav tm="0">
                                          <p:val>
                                            <p:fltVal val="0"/>
                                          </p:val>
                                        </p:tav>
                                        <p:tav tm="100000">
                                          <p:val>
                                            <p:strVal val="#ppt_w"/>
                                          </p:val>
                                        </p:tav>
                                      </p:tavLst>
                                    </p:anim>
                                    <p:anim calcmode="lin" valueType="num">
                                      <p:cBhvr>
                                        <p:cTn id="47" dur="250" fill="hold"/>
                                        <p:tgtEl>
                                          <p:spTgt spid="12"/>
                                        </p:tgtEl>
                                        <p:attrNameLst>
                                          <p:attrName>ppt_h</p:attrName>
                                        </p:attrNameLst>
                                      </p:cBhvr>
                                      <p:tavLst>
                                        <p:tav tm="0">
                                          <p:val>
                                            <p:fltVal val="0"/>
                                          </p:val>
                                        </p:tav>
                                        <p:tav tm="100000">
                                          <p:val>
                                            <p:strVal val="#ppt_h"/>
                                          </p:val>
                                        </p:tav>
                                      </p:tavLst>
                                    </p:anim>
                                    <p:animEffect transition="in" filter="fade">
                                      <p:cBhvr>
                                        <p:cTn id="48" dur="250"/>
                                        <p:tgtEl>
                                          <p:spTgt spid="12"/>
                                        </p:tgtEl>
                                      </p:cBhvr>
                                    </p:animEffect>
                                  </p:childTnLst>
                                </p:cTn>
                              </p:par>
                            </p:childTnLst>
                          </p:cTn>
                        </p:par>
                      </p:childTnLst>
                    </p:cTn>
                  </p:par>
                  <p:par>
                    <p:cTn id="49" fill="hold">
                      <p:stCondLst>
                        <p:cond delay="indefinite"/>
                      </p:stCondLst>
                      <p:childTnLst>
                        <p:par>
                          <p:cTn id="50" fill="hold">
                            <p:stCondLst>
                              <p:cond delay="0"/>
                            </p:stCondLst>
                            <p:childTnLst>
                              <p:par>
                                <p:cTn id="51" presetID="53" presetClass="entr" presetSubtype="16" fill="hold" nodeType="clickEffect">
                                  <p:stCondLst>
                                    <p:cond delay="0"/>
                                  </p:stCondLst>
                                  <p:childTnLst>
                                    <p:set>
                                      <p:cBhvr>
                                        <p:cTn id="52" dur="1" fill="hold">
                                          <p:stCondLst>
                                            <p:cond delay="0"/>
                                          </p:stCondLst>
                                        </p:cTn>
                                        <p:tgtEl>
                                          <p:spTgt spid="7"/>
                                        </p:tgtEl>
                                        <p:attrNameLst>
                                          <p:attrName>style.visibility</p:attrName>
                                        </p:attrNameLst>
                                      </p:cBhvr>
                                      <p:to>
                                        <p:strVal val="visible"/>
                                      </p:to>
                                    </p:set>
                                    <p:anim calcmode="lin" valueType="num">
                                      <p:cBhvr>
                                        <p:cTn id="53" dur="250" fill="hold"/>
                                        <p:tgtEl>
                                          <p:spTgt spid="7"/>
                                        </p:tgtEl>
                                        <p:attrNameLst>
                                          <p:attrName>ppt_w</p:attrName>
                                        </p:attrNameLst>
                                      </p:cBhvr>
                                      <p:tavLst>
                                        <p:tav tm="0">
                                          <p:val>
                                            <p:fltVal val="0"/>
                                          </p:val>
                                        </p:tav>
                                        <p:tav tm="100000">
                                          <p:val>
                                            <p:strVal val="#ppt_w"/>
                                          </p:val>
                                        </p:tav>
                                      </p:tavLst>
                                    </p:anim>
                                    <p:anim calcmode="lin" valueType="num">
                                      <p:cBhvr>
                                        <p:cTn id="54" dur="250" fill="hold"/>
                                        <p:tgtEl>
                                          <p:spTgt spid="7"/>
                                        </p:tgtEl>
                                        <p:attrNameLst>
                                          <p:attrName>ppt_h</p:attrName>
                                        </p:attrNameLst>
                                      </p:cBhvr>
                                      <p:tavLst>
                                        <p:tav tm="0">
                                          <p:val>
                                            <p:fltVal val="0"/>
                                          </p:val>
                                        </p:tav>
                                        <p:tav tm="100000">
                                          <p:val>
                                            <p:strVal val="#ppt_h"/>
                                          </p:val>
                                        </p:tav>
                                      </p:tavLst>
                                    </p:anim>
                                    <p:animEffect transition="in" filter="fade">
                                      <p:cBhvr>
                                        <p:cTn id="55" dur="250"/>
                                        <p:tgtEl>
                                          <p:spTgt spid="7"/>
                                        </p:tgtEl>
                                      </p:cBhvr>
                                    </p:animEffect>
                                  </p:childTnLst>
                                </p:cTn>
                              </p:par>
                            </p:childTnLst>
                          </p:cTn>
                        </p:par>
                        <p:par>
                          <p:cTn id="56" fill="hold">
                            <p:stCondLst>
                              <p:cond delay="250"/>
                            </p:stCondLst>
                            <p:childTnLst>
                              <p:par>
                                <p:cTn id="57" presetID="16" presetClass="entr" presetSubtype="21" fill="hold" grpId="0" nodeType="after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barn(inVertical)">
                                      <p:cBhvr>
                                        <p:cTn id="59" dur="250"/>
                                        <p:tgtEl>
                                          <p:spTgt spid="13"/>
                                        </p:tgtEl>
                                      </p:cBhvr>
                                    </p:animEffect>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14"/>
                                        </p:tgtEl>
                                        <p:attrNameLst>
                                          <p:attrName>style.visibility</p:attrName>
                                        </p:attrNameLst>
                                      </p:cBhvr>
                                      <p:to>
                                        <p:strVal val="visible"/>
                                      </p:to>
                                    </p:set>
                                    <p:anim calcmode="lin" valueType="num">
                                      <p:cBhvr additive="base">
                                        <p:cTn id="64" dur="500" fill="hold"/>
                                        <p:tgtEl>
                                          <p:spTgt spid="14"/>
                                        </p:tgtEl>
                                        <p:attrNameLst>
                                          <p:attrName>ppt_x</p:attrName>
                                        </p:attrNameLst>
                                      </p:cBhvr>
                                      <p:tavLst>
                                        <p:tav tm="0">
                                          <p:val>
                                            <p:strVal val="#ppt_x"/>
                                          </p:val>
                                        </p:tav>
                                        <p:tav tm="100000">
                                          <p:val>
                                            <p:strVal val="#ppt_x"/>
                                          </p:val>
                                        </p:tav>
                                      </p:tavLst>
                                    </p:anim>
                                    <p:anim calcmode="lin" valueType="num">
                                      <p:cBhvr additive="base">
                                        <p:cTn id="65" dur="500" fill="hold"/>
                                        <p:tgtEl>
                                          <p:spTgt spid="14"/>
                                        </p:tgtEl>
                                        <p:attrNameLst>
                                          <p:attrName>ppt_y</p:attrName>
                                        </p:attrNameLst>
                                      </p:cBhvr>
                                      <p:tavLst>
                                        <p:tav tm="0">
                                          <p:val>
                                            <p:strVal val="1+#ppt_h/2"/>
                                          </p:val>
                                        </p:tav>
                                        <p:tav tm="100000">
                                          <p:val>
                                            <p:strVal val="#ppt_y"/>
                                          </p:val>
                                        </p:tav>
                                      </p:tavLst>
                                    </p:anim>
                                  </p:childTnLst>
                                </p:cTn>
                              </p:par>
                              <p:par>
                                <p:cTn id="66" presetID="2" presetClass="entr" presetSubtype="4" fill="hold" grpId="0" nodeType="withEffect">
                                  <p:stCondLst>
                                    <p:cond delay="0"/>
                                  </p:stCondLst>
                                  <p:childTnLst>
                                    <p:set>
                                      <p:cBhvr>
                                        <p:cTn id="67" dur="1" fill="hold">
                                          <p:stCondLst>
                                            <p:cond delay="0"/>
                                          </p:stCondLst>
                                        </p:cTn>
                                        <p:tgtEl>
                                          <p:spTgt spid="19"/>
                                        </p:tgtEl>
                                        <p:attrNameLst>
                                          <p:attrName>style.visibility</p:attrName>
                                        </p:attrNameLst>
                                      </p:cBhvr>
                                      <p:to>
                                        <p:strVal val="visible"/>
                                      </p:to>
                                    </p:set>
                                    <p:anim calcmode="lin" valueType="num">
                                      <p:cBhvr additive="base">
                                        <p:cTn id="68" dur="500" fill="hold"/>
                                        <p:tgtEl>
                                          <p:spTgt spid="19"/>
                                        </p:tgtEl>
                                        <p:attrNameLst>
                                          <p:attrName>ppt_x</p:attrName>
                                        </p:attrNameLst>
                                      </p:cBhvr>
                                      <p:tavLst>
                                        <p:tav tm="0">
                                          <p:val>
                                            <p:strVal val="#ppt_x"/>
                                          </p:val>
                                        </p:tav>
                                        <p:tav tm="100000">
                                          <p:val>
                                            <p:strVal val="#ppt_x"/>
                                          </p:val>
                                        </p:tav>
                                      </p:tavLst>
                                    </p:anim>
                                    <p:anim calcmode="lin" valueType="num">
                                      <p:cBhvr additive="base">
                                        <p:cTn id="69"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2" presetClass="entr" presetSubtype="4" fill="hold" grpId="0" nodeType="clickEffect">
                                  <p:stCondLst>
                                    <p:cond delay="0"/>
                                  </p:stCondLst>
                                  <p:childTnLst>
                                    <p:set>
                                      <p:cBhvr>
                                        <p:cTn id="73" dur="1" fill="hold">
                                          <p:stCondLst>
                                            <p:cond delay="0"/>
                                          </p:stCondLst>
                                        </p:cTn>
                                        <p:tgtEl>
                                          <p:spTgt spid="18"/>
                                        </p:tgtEl>
                                        <p:attrNameLst>
                                          <p:attrName>style.visibility</p:attrName>
                                        </p:attrNameLst>
                                      </p:cBhvr>
                                      <p:to>
                                        <p:strVal val="visible"/>
                                      </p:to>
                                    </p:set>
                                    <p:anim calcmode="lin" valueType="num">
                                      <p:cBhvr additive="base">
                                        <p:cTn id="74" dur="500" fill="hold"/>
                                        <p:tgtEl>
                                          <p:spTgt spid="18"/>
                                        </p:tgtEl>
                                        <p:attrNameLst>
                                          <p:attrName>ppt_x</p:attrName>
                                        </p:attrNameLst>
                                      </p:cBhvr>
                                      <p:tavLst>
                                        <p:tav tm="0">
                                          <p:val>
                                            <p:strVal val="#ppt_x"/>
                                          </p:val>
                                        </p:tav>
                                        <p:tav tm="100000">
                                          <p:val>
                                            <p:strVal val="#ppt_x"/>
                                          </p:val>
                                        </p:tav>
                                      </p:tavLst>
                                    </p:anim>
                                    <p:anim calcmode="lin" valueType="num">
                                      <p:cBhvr additive="base">
                                        <p:cTn id="75"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animBg="1"/>
      <p:bldP spid="8" grpId="1" animBg="1"/>
      <p:bldP spid="18" grpId="0" animBg="1"/>
      <p:bldP spid="13" grpId="0"/>
      <p:bldP spid="14" grpId="0" animBg="1"/>
      <p:bldP spid="19" grpId="0" animBg="1"/>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28601"/>
            <a:ext cx="12192000" cy="6555641"/>
          </a:xfrm>
          <a:prstGeom prst="rect">
            <a:avLst/>
          </a:prstGeom>
          <a:noFill/>
        </p:spPr>
        <p:txBody>
          <a:bodyPr wrap="square" rtlCol="0">
            <a:spAutoFit/>
          </a:bodyPr>
          <a:lstStyle/>
          <a:p>
            <a:pPr lvl="2" algn="just"/>
            <a:r>
              <a:rPr lang="en-US" sz="3600" i="1" spc="300">
                <a:solidFill>
                  <a:schemeClr val="accent2">
                    <a:lumMod val="75000"/>
                  </a:schemeClr>
                </a:solidFill>
                <a:effectLst>
                  <a:outerShdw blurRad="38100" dist="38100" dir="2700000" algn="tl">
                    <a:srgbClr val="000000">
                      <a:alpha val="43137"/>
                    </a:srgbClr>
                  </a:outerShdw>
                </a:effectLst>
              </a:rPr>
              <a:t>Chính trị</a:t>
            </a:r>
          </a:p>
          <a:p>
            <a:pPr marL="285750" indent="-285750" algn="just">
              <a:buFont typeface="Wingdings" panose="05000000000000000000" pitchFamily="2" charset="2"/>
              <a:buChar char="v"/>
            </a:pPr>
            <a:r>
              <a:rPr lang="en-US" sz="2800">
                <a:effectLst>
                  <a:outerShdw blurRad="38100" dist="38100" dir="2700000" algn="tl">
                    <a:srgbClr val="000000">
                      <a:alpha val="43137"/>
                    </a:srgbClr>
                  </a:outerShdw>
                </a:effectLst>
              </a:rPr>
              <a:t>Cải cách theo khuôn khổ các nước phương Tây</a:t>
            </a:r>
            <a:endParaRPr lang="vi-VN" sz="2800">
              <a:effectLst>
                <a:outerShdw blurRad="38100" dist="38100" dir="2700000" algn="tl">
                  <a:srgbClr val="000000">
                    <a:alpha val="43137"/>
                  </a:srgbClr>
                </a:outerShdw>
              </a:effectLst>
            </a:endParaRPr>
          </a:p>
          <a:p>
            <a:pPr lvl="2" algn="just"/>
            <a:endParaRPr lang="vi-VN" sz="3600" i="1" spc="300">
              <a:solidFill>
                <a:schemeClr val="accent2">
                  <a:lumMod val="75000"/>
                </a:schemeClr>
              </a:solidFill>
              <a:effectLst>
                <a:outerShdw blurRad="38100" dist="38100" dir="2700000" algn="tl">
                  <a:srgbClr val="000000">
                    <a:alpha val="43137"/>
                  </a:srgbClr>
                </a:outerShdw>
              </a:effectLst>
            </a:endParaRPr>
          </a:p>
          <a:p>
            <a:pPr lvl="2" algn="just"/>
            <a:endParaRPr lang="en-US" sz="3600" i="1" spc="300">
              <a:solidFill>
                <a:schemeClr val="accent2">
                  <a:lumMod val="75000"/>
                </a:schemeClr>
              </a:solidFill>
              <a:effectLst>
                <a:outerShdw blurRad="38100" dist="38100" dir="2700000" algn="tl">
                  <a:srgbClr val="000000">
                    <a:alpha val="43137"/>
                  </a:srgbClr>
                </a:outerShdw>
              </a:effectLst>
            </a:endParaRPr>
          </a:p>
          <a:p>
            <a:pPr marL="285750" indent="-285750" algn="just">
              <a:buFont typeface="Wingdings" panose="05000000000000000000" pitchFamily="2" charset="2"/>
              <a:buChar char="v"/>
            </a:pPr>
            <a:r>
              <a:rPr lang="en-US" sz="2800">
                <a:effectLst>
                  <a:outerShdw blurRad="38100" dist="38100" dir="2700000" algn="tl">
                    <a:srgbClr val="000000">
                      <a:alpha val="43137"/>
                    </a:srgbClr>
                  </a:outerShdw>
                </a:effectLst>
              </a:rPr>
              <a:t>Đứng đầu nhà </a:t>
            </a:r>
            <a:r>
              <a:rPr lang="vi-VN" sz="2800">
                <a:effectLst>
                  <a:outerShdw blurRad="38100" dist="38100" dir="2700000" algn="tl">
                    <a:srgbClr val="000000">
                      <a:alpha val="43137"/>
                    </a:srgbClr>
                  </a:outerShdw>
                </a:effectLst>
              </a:rPr>
              <a:t>nước vẫn là vua</a:t>
            </a:r>
          </a:p>
          <a:p>
            <a:pPr marL="285750" indent="-285750" algn="just">
              <a:buFont typeface="Wingdings" panose="05000000000000000000" pitchFamily="2" charset="2"/>
              <a:buChar char="v"/>
            </a:pPr>
            <a:endParaRPr lang="vi-VN" sz="2800">
              <a:effectLst>
                <a:outerShdw blurRad="38100" dist="38100" dir="2700000" algn="tl">
                  <a:srgbClr val="000000">
                    <a:alpha val="43137"/>
                  </a:srgbClr>
                </a:outerShdw>
              </a:effectLst>
            </a:endParaRPr>
          </a:p>
          <a:p>
            <a:pPr marL="285750" indent="-285750" algn="just">
              <a:buFont typeface="Wingdings" panose="05000000000000000000" pitchFamily="2" charset="2"/>
              <a:buChar char="v"/>
            </a:pPr>
            <a:endParaRPr lang="vi-VN" sz="2800">
              <a:effectLst>
                <a:outerShdw blurRad="38100" dist="38100" dir="2700000" algn="tl">
                  <a:srgbClr val="000000">
                    <a:alpha val="43137"/>
                  </a:srgbClr>
                </a:outerShdw>
              </a:effectLst>
            </a:endParaRPr>
          </a:p>
          <a:p>
            <a:pPr marL="285750" indent="-285750" algn="just">
              <a:buFont typeface="Wingdings" panose="05000000000000000000" pitchFamily="2" charset="2"/>
              <a:buChar char="v"/>
            </a:pPr>
            <a:r>
              <a:rPr lang="vi-VN" sz="2800">
                <a:effectLst>
                  <a:outerShdw blurRad="38100" dist="38100" dir="2700000" algn="tl">
                    <a:srgbClr val="000000">
                      <a:alpha val="43137"/>
                    </a:srgbClr>
                  </a:outerShdw>
                </a:effectLst>
              </a:rPr>
              <a:t>Giúp việc có hội đồng nhà nước (nghị viện)</a:t>
            </a:r>
          </a:p>
          <a:p>
            <a:pPr marL="285750" indent="-285750" algn="just">
              <a:buFont typeface="Wingdings" panose="05000000000000000000" pitchFamily="2" charset="2"/>
              <a:buChar char="v"/>
            </a:pPr>
            <a:endParaRPr lang="vi-VN" sz="2800">
              <a:effectLst>
                <a:outerShdw blurRad="38100" dist="38100" dir="2700000" algn="tl">
                  <a:srgbClr val="000000">
                    <a:alpha val="43137"/>
                  </a:srgbClr>
                </a:outerShdw>
              </a:effectLst>
            </a:endParaRPr>
          </a:p>
          <a:p>
            <a:pPr marL="285750" indent="-285750" algn="just">
              <a:buFont typeface="Wingdings" panose="05000000000000000000" pitchFamily="2" charset="2"/>
              <a:buChar char="v"/>
            </a:pPr>
            <a:endParaRPr lang="vi-VN" sz="2800">
              <a:effectLst>
                <a:outerShdw blurRad="38100" dist="38100" dir="2700000" algn="tl">
                  <a:srgbClr val="000000">
                    <a:alpha val="43137"/>
                  </a:srgbClr>
                </a:outerShdw>
              </a:effectLst>
            </a:endParaRPr>
          </a:p>
          <a:p>
            <a:pPr marL="285750" indent="-285750" algn="just">
              <a:buFont typeface="Wingdings" panose="05000000000000000000" pitchFamily="2" charset="2"/>
              <a:buChar char="v"/>
            </a:pPr>
            <a:r>
              <a:rPr lang="vi-VN" sz="2800">
                <a:effectLst>
                  <a:outerShdw blurRad="38100" dist="38100" dir="2700000" algn="tl">
                    <a:srgbClr val="000000">
                      <a:alpha val="43137"/>
                    </a:srgbClr>
                  </a:outerShdw>
                </a:effectLst>
              </a:rPr>
              <a:t> Chính phủ có 12 bộ trưởng</a:t>
            </a:r>
          </a:p>
          <a:p>
            <a:pPr marL="285750" indent="-285750" algn="just">
              <a:buFont typeface="Wingdings" panose="05000000000000000000" pitchFamily="2" charset="2"/>
              <a:buChar char="v"/>
            </a:pPr>
            <a:endParaRPr lang="vi-VN" sz="2800">
              <a:effectLst>
                <a:outerShdw blurRad="38100" dist="38100" dir="2700000" algn="tl">
                  <a:srgbClr val="000000">
                    <a:alpha val="43137"/>
                  </a:srgbClr>
                </a:outerShdw>
              </a:effectLst>
            </a:endParaRPr>
          </a:p>
          <a:p>
            <a:pPr marL="285750" indent="-285750" algn="just">
              <a:buFont typeface="Wingdings" panose="05000000000000000000" pitchFamily="2" charset="2"/>
              <a:buChar char="v"/>
            </a:pPr>
            <a:endParaRPr lang="vi-VN" sz="2800">
              <a:effectLst>
                <a:outerShdw blurRad="38100" dist="38100" dir="2700000" algn="tl">
                  <a:srgbClr val="000000">
                    <a:alpha val="43137"/>
                  </a:srgbClr>
                </a:outerShdw>
              </a:effectLst>
            </a:endParaRPr>
          </a:p>
          <a:p>
            <a:pPr marL="285750" indent="-285750" algn="just">
              <a:buFont typeface="Wingdings" panose="05000000000000000000" pitchFamily="2" charset="2"/>
              <a:buChar char="v"/>
            </a:pPr>
            <a:endParaRPr lang="en-US" sz="320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675140293"/>
      </p:ext>
    </p:extLst>
  </p:cSld>
  <p:clrMapOvr>
    <a:masterClrMapping/>
  </p:clrMapOvr>
  <mc:AlternateContent xmlns:mc="http://schemas.openxmlformats.org/markup-compatibility/2006">
    <mc:Choice xmlns:p14="http://schemas.microsoft.com/office/powerpoint/2010/main" Requires="p14">
      <p:transition p14:dur="250">
        <p14:flythrough/>
      </p:transition>
    </mc:Choice>
    <mc:Fallback>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416</TotalTime>
  <Words>326</Words>
  <Application>Microsoft Office PowerPoint</Application>
  <PresentationFormat>Widescreen</PresentationFormat>
  <Paragraphs>30</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(Body)</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VUA RAMA IV</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khanh</dc:creator>
  <cp:lastModifiedBy>Administrator</cp:lastModifiedBy>
  <cp:revision>115</cp:revision>
  <dcterms:created xsi:type="dcterms:W3CDTF">2020-10-13T08:57:34Z</dcterms:created>
  <dcterms:modified xsi:type="dcterms:W3CDTF">2020-10-14T12:13:32Z</dcterms:modified>
</cp:coreProperties>
</file>